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7"/>
  </p:notesMasterIdLst>
  <p:sldIdLst>
    <p:sldId id="257" r:id="rId2"/>
    <p:sldId id="345" r:id="rId3"/>
    <p:sldId id="365" r:id="rId4"/>
    <p:sldId id="366" r:id="rId5"/>
    <p:sldId id="432" r:id="rId6"/>
    <p:sldId id="424" r:id="rId7"/>
    <p:sldId id="423" r:id="rId8"/>
    <p:sldId id="367" r:id="rId9"/>
    <p:sldId id="368" r:id="rId10"/>
    <p:sldId id="428" r:id="rId11"/>
    <p:sldId id="429" r:id="rId12"/>
    <p:sldId id="430" r:id="rId13"/>
    <p:sldId id="431" r:id="rId14"/>
    <p:sldId id="434" r:id="rId15"/>
    <p:sldId id="438" r:id="rId16"/>
    <p:sldId id="433" r:id="rId17"/>
    <p:sldId id="460" r:id="rId18"/>
    <p:sldId id="457" r:id="rId19"/>
    <p:sldId id="458" r:id="rId20"/>
    <p:sldId id="459" r:id="rId21"/>
    <p:sldId id="435" r:id="rId22"/>
    <p:sldId id="436" r:id="rId23"/>
    <p:sldId id="441" r:id="rId24"/>
    <p:sldId id="442" r:id="rId25"/>
    <p:sldId id="443" r:id="rId26"/>
    <p:sldId id="451" r:id="rId27"/>
    <p:sldId id="456" r:id="rId28"/>
    <p:sldId id="452" r:id="rId29"/>
    <p:sldId id="453" r:id="rId30"/>
    <p:sldId id="454" r:id="rId31"/>
    <p:sldId id="455" r:id="rId32"/>
    <p:sldId id="448" r:id="rId33"/>
    <p:sldId id="450" r:id="rId34"/>
    <p:sldId id="359" r:id="rId35"/>
    <p:sldId id="358" r:id="rId36"/>
  </p:sldIdLst>
  <p:sldSz cx="13817600" cy="7772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48">
          <p15:clr>
            <a:srgbClr val="A4A3A4"/>
          </p15:clr>
        </p15:guide>
        <p15:guide id="2" pos="435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7292A2E-F333-43FB-9621-5CBBE7FDCDCB}" styleName="Estilo claro 2 - Acento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EB9631B5-78F2-41C9-869B-9F39066F8104}" styleName="Estilo medio 3 - Énfasis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16DA210-FB5B-4158-B5E0-FEB733F419BA}" styleName="Estilo clar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40" autoAdjust="0"/>
    <p:restoredTop sz="95455" autoAdjust="0"/>
  </p:normalViewPr>
  <p:slideViewPr>
    <p:cSldViewPr snapToGrid="0">
      <p:cViewPr varScale="1">
        <p:scale>
          <a:sx n="55" d="100"/>
          <a:sy n="55" d="100"/>
        </p:scale>
        <p:origin x="668" y="44"/>
      </p:cViewPr>
      <p:guideLst>
        <p:guide orient="horz" pos="2448"/>
        <p:guide pos="43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esar Augusto Lopez Gallego" userId="0dfa9112-9251-4882-b472-cf2dfcee09d1" providerId="ADAL" clId="{FD08D8F4-0364-49BE-A562-102EC7EA20FF}"/>
    <pc:docChg chg="custSel modSld">
      <pc:chgData name="Cesar Augusto Lopez Gallego" userId="0dfa9112-9251-4882-b472-cf2dfcee09d1" providerId="ADAL" clId="{FD08D8F4-0364-49BE-A562-102EC7EA20FF}" dt="2026-01-16T14:14:06.324" v="53" actId="27636"/>
      <pc:docMkLst>
        <pc:docMk/>
      </pc:docMkLst>
      <pc:sldChg chg="modSp mod">
        <pc:chgData name="Cesar Augusto Lopez Gallego" userId="0dfa9112-9251-4882-b472-cf2dfcee09d1" providerId="ADAL" clId="{FD08D8F4-0364-49BE-A562-102EC7EA20FF}" dt="2026-01-16T14:14:06.324" v="53" actId="27636"/>
        <pc:sldMkLst>
          <pc:docMk/>
          <pc:sldMk cId="2729201168" sldId="345"/>
        </pc:sldMkLst>
        <pc:spChg chg="mod">
          <ac:chgData name="Cesar Augusto Lopez Gallego" userId="0dfa9112-9251-4882-b472-cf2dfcee09d1" providerId="ADAL" clId="{FD08D8F4-0364-49BE-A562-102EC7EA20FF}" dt="2026-01-16T14:14:06.324" v="53" actId="27636"/>
          <ac:spMkLst>
            <pc:docMk/>
            <pc:sldMk cId="2729201168" sldId="345"/>
            <ac:spMk id="5" creationId="{00000000-0000-0000-0000-000000000000}"/>
          </ac:spMkLst>
        </pc:spChg>
        <pc:spChg chg="mod">
          <ac:chgData name="Cesar Augusto Lopez Gallego" userId="0dfa9112-9251-4882-b472-cf2dfcee09d1" providerId="ADAL" clId="{FD08D8F4-0364-49BE-A562-102EC7EA20FF}" dt="2026-01-16T14:13:07.694" v="0" actId="20577"/>
          <ac:spMkLst>
            <pc:docMk/>
            <pc:sldMk cId="2729201168" sldId="345"/>
            <ac:spMk id="6" creationId="{00000000-0000-0000-0000-000000000000}"/>
          </ac:spMkLst>
        </pc:spChg>
      </pc:sldChg>
    </pc:docChg>
  </pc:docChgLst>
  <pc:docChgLst>
    <pc:chgData name="Cesar Augusto Lopez Gallego" userId="0dfa9112-9251-4882-b472-cf2dfcee09d1" providerId="ADAL" clId="{74C739C4-1830-4E7C-BE2C-C2F25CB419B0}"/>
    <pc:docChg chg="undo custSel addSld modSld">
      <pc:chgData name="Cesar Augusto Lopez Gallego" userId="0dfa9112-9251-4882-b472-cf2dfcee09d1" providerId="ADAL" clId="{74C739C4-1830-4E7C-BE2C-C2F25CB419B0}" dt="2025-07-19T12:22:50.342" v="761" actId="1076"/>
      <pc:docMkLst>
        <pc:docMk/>
      </pc:docMkLst>
      <pc:sldChg chg="addSp delSp modSp new mod">
        <pc:chgData name="Cesar Augusto Lopez Gallego" userId="0dfa9112-9251-4882-b472-cf2dfcee09d1" providerId="ADAL" clId="{74C739C4-1830-4E7C-BE2C-C2F25CB419B0}" dt="2025-07-19T12:10:43.336" v="465" actId="20577"/>
        <pc:sldMkLst>
          <pc:docMk/>
          <pc:sldMk cId="3521019429" sldId="457"/>
        </pc:sldMkLst>
        <pc:spChg chg="mod">
          <ac:chgData name="Cesar Augusto Lopez Gallego" userId="0dfa9112-9251-4882-b472-cf2dfcee09d1" providerId="ADAL" clId="{74C739C4-1830-4E7C-BE2C-C2F25CB419B0}" dt="2025-07-19T11:57:04.612" v="65" actId="403"/>
          <ac:spMkLst>
            <pc:docMk/>
            <pc:sldMk cId="3521019429" sldId="457"/>
            <ac:spMk id="2" creationId="{94D97F5D-D37D-42DD-9875-610887AB7853}"/>
          </ac:spMkLst>
        </pc:spChg>
        <pc:spChg chg="add del mod">
          <ac:chgData name="Cesar Augusto Lopez Gallego" userId="0dfa9112-9251-4882-b472-cf2dfcee09d1" providerId="ADAL" clId="{74C739C4-1830-4E7C-BE2C-C2F25CB419B0}" dt="2025-07-19T11:57:58.975" v="92" actId="478"/>
          <ac:spMkLst>
            <pc:docMk/>
            <pc:sldMk cId="3521019429" sldId="457"/>
            <ac:spMk id="3" creationId="{9A398C11-6A97-4E7F-BF08-3E29AE9D5E34}"/>
          </ac:spMkLst>
        </pc:spChg>
        <pc:spChg chg="add mod">
          <ac:chgData name="Cesar Augusto Lopez Gallego" userId="0dfa9112-9251-4882-b472-cf2dfcee09d1" providerId="ADAL" clId="{74C739C4-1830-4E7C-BE2C-C2F25CB419B0}" dt="2025-07-19T12:09:53.583" v="360" actId="14100"/>
          <ac:spMkLst>
            <pc:docMk/>
            <pc:sldMk cId="3521019429" sldId="457"/>
            <ac:spMk id="4" creationId="{B40C7C12-4877-4D3B-A0F1-052D500F5B69}"/>
          </ac:spMkLst>
        </pc:spChg>
        <pc:spChg chg="add mod">
          <ac:chgData name="Cesar Augusto Lopez Gallego" userId="0dfa9112-9251-4882-b472-cf2dfcee09d1" providerId="ADAL" clId="{74C739C4-1830-4E7C-BE2C-C2F25CB419B0}" dt="2025-07-19T12:09:49.364" v="359" actId="1076"/>
          <ac:spMkLst>
            <pc:docMk/>
            <pc:sldMk cId="3521019429" sldId="457"/>
            <ac:spMk id="6" creationId="{2CCFA170-838C-40B2-9244-B6C14241E30A}"/>
          </ac:spMkLst>
        </pc:spChg>
        <pc:spChg chg="add mod">
          <ac:chgData name="Cesar Augusto Lopez Gallego" userId="0dfa9112-9251-4882-b472-cf2dfcee09d1" providerId="ADAL" clId="{74C739C4-1830-4E7C-BE2C-C2F25CB419B0}" dt="2025-07-19T12:09:46.383" v="358" actId="1076"/>
          <ac:spMkLst>
            <pc:docMk/>
            <pc:sldMk cId="3521019429" sldId="457"/>
            <ac:spMk id="9" creationId="{4F37CFE1-503F-48FD-8466-CE77CE807DBC}"/>
          </ac:spMkLst>
        </pc:spChg>
        <pc:spChg chg="add mod">
          <ac:chgData name="Cesar Augusto Lopez Gallego" userId="0dfa9112-9251-4882-b472-cf2dfcee09d1" providerId="ADAL" clId="{74C739C4-1830-4E7C-BE2C-C2F25CB419B0}" dt="2025-07-19T12:10:43.336" v="465" actId="20577"/>
          <ac:spMkLst>
            <pc:docMk/>
            <pc:sldMk cId="3521019429" sldId="457"/>
            <ac:spMk id="10" creationId="{B659BDD7-15F0-4C2A-BBF3-5DD05E1DF4DE}"/>
          </ac:spMkLst>
        </pc:spChg>
        <pc:graphicFrameChg chg="add mod modGraphic">
          <ac:chgData name="Cesar Augusto Lopez Gallego" userId="0dfa9112-9251-4882-b472-cf2dfcee09d1" providerId="ADAL" clId="{74C739C4-1830-4E7C-BE2C-C2F25CB419B0}" dt="2025-07-19T12:09:46.383" v="358" actId="1076"/>
          <ac:graphicFrameMkLst>
            <pc:docMk/>
            <pc:sldMk cId="3521019429" sldId="457"/>
            <ac:graphicFrameMk id="5" creationId="{B8CFBB29-649F-4542-A4E8-7AED0A504B06}"/>
          </ac:graphicFrameMkLst>
        </pc:graphicFrameChg>
        <pc:cxnChg chg="add mod">
          <ac:chgData name="Cesar Augusto Lopez Gallego" userId="0dfa9112-9251-4882-b472-cf2dfcee09d1" providerId="ADAL" clId="{74C739C4-1830-4E7C-BE2C-C2F25CB419B0}" dt="2025-07-19T12:09:46.383" v="358" actId="1076"/>
          <ac:cxnSpMkLst>
            <pc:docMk/>
            <pc:sldMk cId="3521019429" sldId="457"/>
            <ac:cxnSpMk id="8" creationId="{1A9487FF-36D4-4FB1-90B8-50FF973C09A5}"/>
          </ac:cxnSpMkLst>
        </pc:cxnChg>
      </pc:sldChg>
      <pc:sldChg chg="addSp delSp modSp new mod">
        <pc:chgData name="Cesar Augusto Lopez Gallego" userId="0dfa9112-9251-4882-b472-cf2dfcee09d1" providerId="ADAL" clId="{74C739C4-1830-4E7C-BE2C-C2F25CB419B0}" dt="2025-07-19T12:22:50.342" v="761" actId="1076"/>
        <pc:sldMkLst>
          <pc:docMk/>
          <pc:sldMk cId="1496360105" sldId="458"/>
        </pc:sldMkLst>
        <pc:spChg chg="mod">
          <ac:chgData name="Cesar Augusto Lopez Gallego" userId="0dfa9112-9251-4882-b472-cf2dfcee09d1" providerId="ADAL" clId="{74C739C4-1830-4E7C-BE2C-C2F25CB419B0}" dt="2025-07-19T12:11:00.680" v="467"/>
          <ac:spMkLst>
            <pc:docMk/>
            <pc:sldMk cId="1496360105" sldId="458"/>
            <ac:spMk id="2" creationId="{00069753-B98A-482C-B21A-89D6DA3E6DB8}"/>
          </ac:spMkLst>
        </pc:spChg>
        <pc:spChg chg="add del">
          <ac:chgData name="Cesar Augusto Lopez Gallego" userId="0dfa9112-9251-4882-b472-cf2dfcee09d1" providerId="ADAL" clId="{74C739C4-1830-4E7C-BE2C-C2F25CB419B0}" dt="2025-07-19T12:11:22.152" v="469" actId="22"/>
          <ac:spMkLst>
            <pc:docMk/>
            <pc:sldMk cId="1496360105" sldId="458"/>
            <ac:spMk id="4" creationId="{9F350451-F23A-48D8-A8C6-3FE0E9741E97}"/>
          </ac:spMkLst>
        </pc:spChg>
        <pc:spChg chg="add mod">
          <ac:chgData name="Cesar Augusto Lopez Gallego" userId="0dfa9112-9251-4882-b472-cf2dfcee09d1" providerId="ADAL" clId="{74C739C4-1830-4E7C-BE2C-C2F25CB419B0}" dt="2025-07-19T12:22:50.342" v="761" actId="1076"/>
          <ac:spMkLst>
            <pc:docMk/>
            <pc:sldMk cId="1496360105" sldId="458"/>
            <ac:spMk id="5" creationId="{38B4559C-396A-4796-B173-8D1857A7FDEC}"/>
          </ac:spMkLst>
        </pc:spChg>
        <pc:spChg chg="add del mod">
          <ac:chgData name="Cesar Augusto Lopez Gallego" userId="0dfa9112-9251-4882-b472-cf2dfcee09d1" providerId="ADAL" clId="{74C739C4-1830-4E7C-BE2C-C2F25CB419B0}" dt="2025-07-19T12:11:30.883" v="472"/>
          <ac:spMkLst>
            <pc:docMk/>
            <pc:sldMk cId="1496360105" sldId="458"/>
            <ac:spMk id="6" creationId="{F667190B-36E5-4286-A8F9-E5568009C3B3}"/>
          </ac:spMkLst>
        </pc:spChg>
      </pc:sldChg>
      <pc:sldChg chg="addSp delSp modSp new mod">
        <pc:chgData name="Cesar Augusto Lopez Gallego" userId="0dfa9112-9251-4882-b472-cf2dfcee09d1" providerId="ADAL" clId="{74C739C4-1830-4E7C-BE2C-C2F25CB419B0}" dt="2025-07-19T12:22:43.792" v="760" actId="6549"/>
        <pc:sldMkLst>
          <pc:docMk/>
          <pc:sldMk cId="1368047995" sldId="459"/>
        </pc:sldMkLst>
        <pc:spChg chg="mod">
          <ac:chgData name="Cesar Augusto Lopez Gallego" userId="0dfa9112-9251-4882-b472-cf2dfcee09d1" providerId="ADAL" clId="{74C739C4-1830-4E7C-BE2C-C2F25CB419B0}" dt="2025-07-19T12:21:39.353" v="746" actId="20577"/>
          <ac:spMkLst>
            <pc:docMk/>
            <pc:sldMk cId="1368047995" sldId="459"/>
            <ac:spMk id="2" creationId="{3B3CDD13-B2A3-4FFA-A1BC-418E0EF5FED5}"/>
          </ac:spMkLst>
        </pc:spChg>
        <pc:spChg chg="add del mod">
          <ac:chgData name="Cesar Augusto Lopez Gallego" userId="0dfa9112-9251-4882-b472-cf2dfcee09d1" providerId="ADAL" clId="{74C739C4-1830-4E7C-BE2C-C2F25CB419B0}" dt="2025-07-19T12:22:17.445" v="749" actId="478"/>
          <ac:spMkLst>
            <pc:docMk/>
            <pc:sldMk cId="1368047995" sldId="459"/>
            <ac:spMk id="3" creationId="{7FFBB827-0564-4F79-A734-0AF6495D1609}"/>
          </ac:spMkLst>
        </pc:spChg>
        <pc:spChg chg="add del mod">
          <ac:chgData name="Cesar Augusto Lopez Gallego" userId="0dfa9112-9251-4882-b472-cf2dfcee09d1" providerId="ADAL" clId="{74C739C4-1830-4E7C-BE2C-C2F25CB419B0}" dt="2025-07-19T12:22:17.445" v="749" actId="478"/>
          <ac:spMkLst>
            <pc:docMk/>
            <pc:sldMk cId="1368047995" sldId="459"/>
            <ac:spMk id="4" creationId="{D3504ADC-EF69-4D74-9BF3-2665CDE7DCE2}"/>
          </ac:spMkLst>
        </pc:spChg>
        <pc:spChg chg="add del mod">
          <ac:chgData name="Cesar Augusto Lopez Gallego" userId="0dfa9112-9251-4882-b472-cf2dfcee09d1" providerId="ADAL" clId="{74C739C4-1830-4E7C-BE2C-C2F25CB419B0}" dt="2025-07-19T12:22:17.445" v="749" actId="478"/>
          <ac:spMkLst>
            <pc:docMk/>
            <pc:sldMk cId="1368047995" sldId="459"/>
            <ac:spMk id="5" creationId="{87949542-364B-419F-A853-46D36148959F}"/>
          </ac:spMkLst>
        </pc:spChg>
        <pc:spChg chg="add mod">
          <ac:chgData name="Cesar Augusto Lopez Gallego" userId="0dfa9112-9251-4882-b472-cf2dfcee09d1" providerId="ADAL" clId="{74C739C4-1830-4E7C-BE2C-C2F25CB419B0}" dt="2025-07-19T12:22:43.792" v="760" actId="6549"/>
          <ac:spMkLst>
            <pc:docMk/>
            <pc:sldMk cId="1368047995" sldId="459"/>
            <ac:spMk id="7" creationId="{9FFF7D3F-3020-4C5E-8D55-B1934B178870}"/>
          </ac:spMkLst>
        </pc:spChg>
      </pc:sldChg>
      <pc:sldChg chg="addSp delSp modSp new mod">
        <pc:chgData name="Cesar Augusto Lopez Gallego" userId="0dfa9112-9251-4882-b472-cf2dfcee09d1" providerId="ADAL" clId="{74C739C4-1830-4E7C-BE2C-C2F25CB419B0}" dt="2025-07-19T12:21:22.905" v="744" actId="404"/>
        <pc:sldMkLst>
          <pc:docMk/>
          <pc:sldMk cId="3636047780" sldId="460"/>
        </pc:sldMkLst>
        <pc:spChg chg="mod">
          <ac:chgData name="Cesar Augusto Lopez Gallego" userId="0dfa9112-9251-4882-b472-cf2dfcee09d1" providerId="ADAL" clId="{74C739C4-1830-4E7C-BE2C-C2F25CB419B0}" dt="2025-07-19T12:20:17.685" v="729" actId="1076"/>
          <ac:spMkLst>
            <pc:docMk/>
            <pc:sldMk cId="3636047780" sldId="460"/>
            <ac:spMk id="2" creationId="{E3AD2889-ADBA-4C1B-BC4C-1BA88B264C14}"/>
          </ac:spMkLst>
        </pc:spChg>
        <pc:spChg chg="add del mod">
          <ac:chgData name="Cesar Augusto Lopez Gallego" userId="0dfa9112-9251-4882-b472-cf2dfcee09d1" providerId="ADAL" clId="{74C739C4-1830-4E7C-BE2C-C2F25CB419B0}" dt="2025-07-19T12:21:22.905" v="744" actId="404"/>
          <ac:spMkLst>
            <pc:docMk/>
            <pc:sldMk cId="3636047780" sldId="460"/>
            <ac:spMk id="4" creationId="{C15836C7-10CE-4C3D-ADEF-374D9C03C0A6}"/>
          </ac:spMkLst>
        </pc:spChg>
        <pc:spChg chg="add mod">
          <ac:chgData name="Cesar Augusto Lopez Gallego" userId="0dfa9112-9251-4882-b472-cf2dfcee09d1" providerId="ADAL" clId="{74C739C4-1830-4E7C-BE2C-C2F25CB419B0}" dt="2025-07-19T12:21:18.102" v="742" actId="403"/>
          <ac:spMkLst>
            <pc:docMk/>
            <pc:sldMk cId="3636047780" sldId="460"/>
            <ac:spMk id="6" creationId="{5E33B56E-3D84-4CC2-BABC-9D9C73A8C81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CF4082-7146-476A-B590-4447682ABE83}" type="datetimeFigureOut">
              <a:rPr lang="es-CO" smtClean="0"/>
              <a:t>16/01/2026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36A931-19EC-45C7-8535-923E2C626D9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630030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s-ES_tradnl" dirty="0"/>
              <a:t>Desde los registros</a:t>
            </a:r>
            <a:r>
              <a:rPr lang="es-ES_tradnl" baseline="0" dirty="0"/>
              <a:t> provienen los datos. Estos son registros del procesador.</a:t>
            </a:r>
            <a:endParaRPr lang="es-ES_tradnl" dirty="0"/>
          </a:p>
          <a:p>
            <a:endParaRPr lang="es-ES_tradnl" dirty="0"/>
          </a:p>
          <a:p>
            <a:r>
              <a:rPr lang="es-ES_tradnl" dirty="0" err="1"/>
              <a:t>Flags</a:t>
            </a:r>
            <a:r>
              <a:rPr lang="es-ES_tradnl" dirty="0"/>
              <a:t> e indicadores: resultado de una operación.</a:t>
            </a:r>
            <a:r>
              <a:rPr lang="es-ES_tradnl" baseline="0" dirty="0"/>
              <a:t> Por ejemplo un indicador de desbordamiento = 1, si el resultado de la operación excede la </a:t>
            </a:r>
            <a:r>
              <a:rPr lang="es-ES_tradnl" baseline="0" dirty="0" err="1"/>
              <a:t>long</a:t>
            </a:r>
            <a:r>
              <a:rPr lang="es-ES_tradnl" baseline="0" dirty="0"/>
              <a:t> del registro donde debe almacenarse</a:t>
            </a:r>
          </a:p>
          <a:p>
            <a:endParaRPr lang="es-ES_tradnl" baseline="0" dirty="0"/>
          </a:p>
          <a:p>
            <a:r>
              <a:rPr lang="es-ES_tradnl" baseline="0" dirty="0"/>
              <a:t>CU: (Unidad de control) Proporcionan las señales que gobiernan el funcionamiento de ALU y transferencia de datos hacia y desde la ALU</a:t>
            </a:r>
            <a:endParaRPr lang="es-ES_tradnl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8CDE4E-CAB3-4473-ABEA-14F11963974E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4366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s-ES_tradnl" dirty="0"/>
              <a:t>Al haber dos representaciones</a:t>
            </a:r>
            <a:r>
              <a:rPr lang="es-ES_tradnl" baseline="0" dirty="0"/>
              <a:t> del número cero es un poco más difícil comprobar el valor 0 (operación muy frecuente) que si hubiera una sola representación</a:t>
            </a:r>
          </a:p>
          <a:p>
            <a:endParaRPr lang="es-ES_tradnl" baseline="0" dirty="0"/>
          </a:p>
          <a:p>
            <a:endParaRPr lang="en-U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8CDE4E-CAB3-4473-ABEA-14F11963974E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3717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s-ES_tradnl" dirty="0"/>
              <a:t>En signo magnitud se resuelve</a:t>
            </a:r>
            <a:r>
              <a:rPr lang="es-ES_tradnl" baseline="0" dirty="0"/>
              <a:t> trasladando el bit de signo a la posición más a la izquierda y rellenando todo de ceros</a:t>
            </a:r>
          </a:p>
          <a:p>
            <a:endParaRPr lang="en-U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8CDE4E-CAB3-4473-ABEA-14F11963974E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1788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_tradnl" dirty="0"/>
              <a:t>Cero se representa únicamente positivo. (bit de signo 0 y los restantes bit de magnitud 0)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s-ES_tradnl" dirty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_tradnl" dirty="0"/>
              <a:t>Rango de los positivos</a:t>
            </a:r>
            <a:r>
              <a:rPr lang="es-ES_tradnl" baseline="0" dirty="0"/>
              <a:t> que se pueden representar es desde 0 hasta 2</a:t>
            </a:r>
            <a:r>
              <a:rPr lang="es-ES_tradnl" baseline="30000" dirty="0"/>
              <a:t>n-1</a:t>
            </a:r>
            <a:r>
              <a:rPr lang="es-ES_tradnl" baseline="0" dirty="0"/>
              <a:t> -1. Cualquier número mayor requiere de más bits.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8CDE4E-CAB3-4473-ABEA-14F11963974E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6999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s-ES_tradnl" dirty="0"/>
              <a:t>Si el peso del bit más</a:t>
            </a:r>
            <a:r>
              <a:rPr lang="es-ES_tradnl" baseline="0" dirty="0"/>
              <a:t> significativo es: </a:t>
            </a:r>
            <a:r>
              <a:rPr lang="es-ES_tradnl" dirty="0"/>
              <a:t>-2</a:t>
            </a:r>
            <a:r>
              <a:rPr lang="es-ES_tradnl" baseline="30000" dirty="0"/>
              <a:t>n-1  </a:t>
            </a:r>
            <a:r>
              <a:rPr lang="es-ES_tradnl" baseline="0" dirty="0"/>
              <a:t>se consiguen las propiedades de representación aritmética deseables. </a:t>
            </a:r>
          </a:p>
          <a:p>
            <a:endParaRPr lang="es-ES_tradnl" baseline="0" dirty="0"/>
          </a:p>
          <a:p>
            <a:r>
              <a:rPr lang="es-ES_tradnl" dirty="0"/>
              <a:t>En la forma general si </a:t>
            </a:r>
            <a:r>
              <a:rPr lang="es-ES_tradnl" sz="1200" dirty="0"/>
              <a:t>a</a:t>
            </a:r>
            <a:r>
              <a:rPr lang="es-ES_tradnl" sz="1200" baseline="-25000" dirty="0"/>
              <a:t>n-1</a:t>
            </a:r>
            <a:r>
              <a:rPr lang="es-ES_tradnl" sz="1200" dirty="0"/>
              <a:t> </a:t>
            </a:r>
            <a:r>
              <a:rPr lang="es-ES_tradnl" dirty="0"/>
              <a:t>es 0, por lo</a:t>
            </a:r>
            <a:r>
              <a:rPr lang="es-ES_tradnl" baseline="0" dirty="0"/>
              <a:t> tanto </a:t>
            </a:r>
            <a:r>
              <a:rPr lang="es-ES_tradnl" sz="1200" dirty="0"/>
              <a:t>2</a:t>
            </a:r>
            <a:r>
              <a:rPr lang="es-ES_tradnl" sz="1200" baseline="30000" dirty="0"/>
              <a:t>n-1 </a:t>
            </a:r>
            <a:r>
              <a:rPr lang="es-ES_tradnl" sz="1200" dirty="0"/>
              <a:t>a</a:t>
            </a:r>
            <a:r>
              <a:rPr lang="es-ES_tradnl" sz="1200" baseline="-25000" dirty="0"/>
              <a:t>n-1</a:t>
            </a:r>
            <a:r>
              <a:rPr lang="es-ES_tradnl" sz="1200" dirty="0"/>
              <a:t> es cero, </a:t>
            </a:r>
            <a:r>
              <a:rPr lang="es-ES_tradnl" dirty="0"/>
              <a:t>entonces sigue la forma de un número positivo. </a:t>
            </a:r>
            <a:endParaRPr lang="en-U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8CDE4E-CAB3-4473-ABEA-14F11963974E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9094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s-ES_tradnl" dirty="0"/>
              <a:t>128 y -128 no se puede representar</a:t>
            </a:r>
            <a:endParaRPr lang="en-U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8CDE4E-CAB3-4473-ABEA-14F11963974E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1129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s-ES_tradnl" dirty="0"/>
              <a:t>El desplazamiento</a:t>
            </a:r>
            <a:r>
              <a:rPr lang="es-ES_tradnl" baseline="0" dirty="0"/>
              <a:t> para el </a:t>
            </a:r>
            <a:r>
              <a:rPr lang="es-ES_tradnl" baseline="0" dirty="0" err="1"/>
              <a:t>CaD</a:t>
            </a:r>
            <a:r>
              <a:rPr lang="es-ES_tradnl" baseline="0" dirty="0"/>
              <a:t>, l</a:t>
            </a:r>
            <a:r>
              <a:rPr lang="es-ES_tradnl" dirty="0"/>
              <a:t>os positivos quedan</a:t>
            </a:r>
            <a:r>
              <a:rPr lang="es-ES_tradnl" baseline="0" dirty="0"/>
              <a:t> de la misma forma que signo-magnitud</a:t>
            </a:r>
            <a:endParaRPr lang="en-U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8CDE4E-CAB3-4473-ABEA-14F11963974E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6300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27200" y="1272011"/>
            <a:ext cx="10363200" cy="2705947"/>
          </a:xfrm>
        </p:spPr>
        <p:txBody>
          <a:bodyPr anchor="b"/>
          <a:lstStyle>
            <a:lvl1pPr algn="ctr">
              <a:defRPr sz="6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27200" y="4082310"/>
            <a:ext cx="10363200" cy="1876530"/>
          </a:xfrm>
        </p:spPr>
        <p:txBody>
          <a:bodyPr/>
          <a:lstStyle>
            <a:lvl1pPr marL="0" indent="0" algn="ctr">
              <a:buNone/>
              <a:defRPr sz="2720"/>
            </a:lvl1pPr>
            <a:lvl2pPr marL="518145" indent="0" algn="ctr">
              <a:buNone/>
              <a:defRPr sz="2267"/>
            </a:lvl2pPr>
            <a:lvl3pPr marL="1036290" indent="0" algn="ctr">
              <a:buNone/>
              <a:defRPr sz="2040"/>
            </a:lvl3pPr>
            <a:lvl4pPr marL="1554434" indent="0" algn="ctr">
              <a:buNone/>
              <a:defRPr sz="1813"/>
            </a:lvl4pPr>
            <a:lvl5pPr marL="2072579" indent="0" algn="ctr">
              <a:buNone/>
              <a:defRPr sz="1813"/>
            </a:lvl5pPr>
            <a:lvl6pPr marL="2590724" indent="0" algn="ctr">
              <a:buNone/>
              <a:defRPr sz="1813"/>
            </a:lvl6pPr>
            <a:lvl7pPr marL="3108869" indent="0" algn="ctr">
              <a:buNone/>
              <a:defRPr sz="1813"/>
            </a:lvl7pPr>
            <a:lvl8pPr marL="3627013" indent="0" algn="ctr">
              <a:buNone/>
              <a:defRPr sz="1813"/>
            </a:lvl8pPr>
            <a:lvl9pPr marL="4145158" indent="0" algn="ctr">
              <a:buNone/>
              <a:defRPr sz="1813"/>
            </a:lvl9pPr>
          </a:lstStyle>
          <a:p>
            <a:r>
              <a:rPr lang="es-ES"/>
              <a:t>Haga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16/01/2026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382727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16/01/2026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798738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2763" y="1937704"/>
            <a:ext cx="11917680" cy="3233102"/>
          </a:xfrm>
        </p:spPr>
        <p:txBody>
          <a:bodyPr anchor="b"/>
          <a:lstStyle>
            <a:lvl1pPr>
              <a:defRPr sz="6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2763" y="5201392"/>
            <a:ext cx="11917680" cy="1700212"/>
          </a:xfrm>
        </p:spPr>
        <p:txBody>
          <a:bodyPr/>
          <a:lstStyle>
            <a:lvl1pPr marL="0" indent="0">
              <a:buNone/>
              <a:defRPr sz="2720">
                <a:solidFill>
                  <a:schemeClr val="tx1">
                    <a:tint val="75000"/>
                  </a:schemeClr>
                </a:solidFill>
              </a:defRPr>
            </a:lvl1pPr>
            <a:lvl2pPr marL="518145" indent="0">
              <a:buNone/>
              <a:defRPr sz="2267">
                <a:solidFill>
                  <a:schemeClr val="tx1">
                    <a:tint val="75000"/>
                  </a:schemeClr>
                </a:solidFill>
              </a:defRPr>
            </a:lvl2pPr>
            <a:lvl3pPr marL="1036290" indent="0">
              <a:buNone/>
              <a:defRPr sz="2040">
                <a:solidFill>
                  <a:schemeClr val="tx1">
                    <a:tint val="75000"/>
                  </a:schemeClr>
                </a:solidFill>
              </a:defRPr>
            </a:lvl3pPr>
            <a:lvl4pPr marL="1554434" indent="0">
              <a:buNone/>
              <a:defRPr sz="1813">
                <a:solidFill>
                  <a:schemeClr val="tx1">
                    <a:tint val="75000"/>
                  </a:schemeClr>
                </a:solidFill>
              </a:defRPr>
            </a:lvl4pPr>
            <a:lvl5pPr marL="2072579" indent="0">
              <a:buNone/>
              <a:defRPr sz="1813">
                <a:solidFill>
                  <a:schemeClr val="tx1">
                    <a:tint val="75000"/>
                  </a:schemeClr>
                </a:solidFill>
              </a:defRPr>
            </a:lvl5pPr>
            <a:lvl6pPr marL="2590724" indent="0">
              <a:buNone/>
              <a:defRPr sz="1813">
                <a:solidFill>
                  <a:schemeClr val="tx1">
                    <a:tint val="75000"/>
                  </a:schemeClr>
                </a:solidFill>
              </a:defRPr>
            </a:lvl6pPr>
            <a:lvl7pPr marL="3108869" indent="0">
              <a:buNone/>
              <a:defRPr sz="1813">
                <a:solidFill>
                  <a:schemeClr val="tx1">
                    <a:tint val="75000"/>
                  </a:schemeClr>
                </a:solidFill>
              </a:defRPr>
            </a:lvl7pPr>
            <a:lvl8pPr marL="3627013" indent="0">
              <a:buNone/>
              <a:defRPr sz="1813">
                <a:solidFill>
                  <a:schemeClr val="tx1">
                    <a:tint val="75000"/>
                  </a:schemeClr>
                </a:solidFill>
              </a:defRPr>
            </a:lvl8pPr>
            <a:lvl9pPr marL="4145158" indent="0">
              <a:buNone/>
              <a:defRPr sz="181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16/01/2026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83130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9960" y="2069042"/>
            <a:ext cx="5872480" cy="4931516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95160" y="2069042"/>
            <a:ext cx="5872480" cy="4931516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16/01/2026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0584304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1760" y="413809"/>
            <a:ext cx="11917680" cy="150230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51760" y="1905318"/>
            <a:ext cx="5845492" cy="933767"/>
          </a:xfrm>
        </p:spPr>
        <p:txBody>
          <a:bodyPr anchor="b"/>
          <a:lstStyle>
            <a:lvl1pPr marL="0" indent="0">
              <a:buNone/>
              <a:defRPr sz="2720" b="1"/>
            </a:lvl1pPr>
            <a:lvl2pPr marL="518145" indent="0">
              <a:buNone/>
              <a:defRPr sz="2267" b="1"/>
            </a:lvl2pPr>
            <a:lvl3pPr marL="1036290" indent="0">
              <a:buNone/>
              <a:defRPr sz="2040" b="1"/>
            </a:lvl3pPr>
            <a:lvl4pPr marL="1554434" indent="0">
              <a:buNone/>
              <a:defRPr sz="1813" b="1"/>
            </a:lvl4pPr>
            <a:lvl5pPr marL="2072579" indent="0">
              <a:buNone/>
              <a:defRPr sz="1813" b="1"/>
            </a:lvl5pPr>
            <a:lvl6pPr marL="2590724" indent="0">
              <a:buNone/>
              <a:defRPr sz="1813" b="1"/>
            </a:lvl6pPr>
            <a:lvl7pPr marL="3108869" indent="0">
              <a:buNone/>
              <a:defRPr sz="1813" b="1"/>
            </a:lvl7pPr>
            <a:lvl8pPr marL="3627013" indent="0">
              <a:buNone/>
              <a:defRPr sz="1813" b="1"/>
            </a:lvl8pPr>
            <a:lvl9pPr marL="4145158" indent="0">
              <a:buNone/>
              <a:defRPr sz="1813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51760" y="2839085"/>
            <a:ext cx="5845492" cy="4175866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995160" y="1905318"/>
            <a:ext cx="5874280" cy="933767"/>
          </a:xfrm>
        </p:spPr>
        <p:txBody>
          <a:bodyPr anchor="b"/>
          <a:lstStyle>
            <a:lvl1pPr marL="0" indent="0">
              <a:buNone/>
              <a:defRPr sz="2720" b="1"/>
            </a:lvl1pPr>
            <a:lvl2pPr marL="518145" indent="0">
              <a:buNone/>
              <a:defRPr sz="2267" b="1"/>
            </a:lvl2pPr>
            <a:lvl3pPr marL="1036290" indent="0">
              <a:buNone/>
              <a:defRPr sz="2040" b="1"/>
            </a:lvl3pPr>
            <a:lvl4pPr marL="1554434" indent="0">
              <a:buNone/>
              <a:defRPr sz="1813" b="1"/>
            </a:lvl4pPr>
            <a:lvl5pPr marL="2072579" indent="0">
              <a:buNone/>
              <a:defRPr sz="1813" b="1"/>
            </a:lvl5pPr>
            <a:lvl6pPr marL="2590724" indent="0">
              <a:buNone/>
              <a:defRPr sz="1813" b="1"/>
            </a:lvl6pPr>
            <a:lvl7pPr marL="3108869" indent="0">
              <a:buNone/>
              <a:defRPr sz="1813" b="1"/>
            </a:lvl7pPr>
            <a:lvl8pPr marL="3627013" indent="0">
              <a:buNone/>
              <a:defRPr sz="1813" b="1"/>
            </a:lvl8pPr>
            <a:lvl9pPr marL="4145158" indent="0">
              <a:buNone/>
              <a:defRPr sz="1813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995160" y="2839085"/>
            <a:ext cx="5874280" cy="4175866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16/01/2026</a:t>
            </a:fld>
            <a:endParaRPr lang="es-CO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99034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16/01/2026</a:t>
            </a:fld>
            <a:endParaRPr lang="es-CO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82768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16/01/2026</a:t>
            </a:fld>
            <a:endParaRPr lang="es-CO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00584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1760" y="518160"/>
            <a:ext cx="4456535" cy="1813560"/>
          </a:xfrm>
        </p:spPr>
        <p:txBody>
          <a:bodyPr anchor="b"/>
          <a:lstStyle>
            <a:lvl1pPr>
              <a:defRPr sz="3627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74280" y="1119082"/>
            <a:ext cx="6995160" cy="5523442"/>
          </a:xfrm>
        </p:spPr>
        <p:txBody>
          <a:bodyPr/>
          <a:lstStyle>
            <a:lvl1pPr>
              <a:defRPr sz="3627"/>
            </a:lvl1pPr>
            <a:lvl2pPr>
              <a:defRPr sz="3173"/>
            </a:lvl2pPr>
            <a:lvl3pPr>
              <a:defRPr sz="2720"/>
            </a:lvl3pPr>
            <a:lvl4pPr>
              <a:defRPr sz="2267"/>
            </a:lvl4pPr>
            <a:lvl5pPr>
              <a:defRPr sz="2267"/>
            </a:lvl5pPr>
            <a:lvl6pPr>
              <a:defRPr sz="2267"/>
            </a:lvl6pPr>
            <a:lvl7pPr>
              <a:defRPr sz="2267"/>
            </a:lvl7pPr>
            <a:lvl8pPr>
              <a:defRPr sz="2267"/>
            </a:lvl8pPr>
            <a:lvl9pPr>
              <a:defRPr sz="2267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51760" y="2331720"/>
            <a:ext cx="4456535" cy="4319800"/>
          </a:xfrm>
        </p:spPr>
        <p:txBody>
          <a:bodyPr/>
          <a:lstStyle>
            <a:lvl1pPr marL="0" indent="0">
              <a:buNone/>
              <a:defRPr sz="1813"/>
            </a:lvl1pPr>
            <a:lvl2pPr marL="518145" indent="0">
              <a:buNone/>
              <a:defRPr sz="1587"/>
            </a:lvl2pPr>
            <a:lvl3pPr marL="1036290" indent="0">
              <a:buNone/>
              <a:defRPr sz="1360"/>
            </a:lvl3pPr>
            <a:lvl4pPr marL="1554434" indent="0">
              <a:buNone/>
              <a:defRPr sz="1133"/>
            </a:lvl4pPr>
            <a:lvl5pPr marL="2072579" indent="0">
              <a:buNone/>
              <a:defRPr sz="1133"/>
            </a:lvl5pPr>
            <a:lvl6pPr marL="2590724" indent="0">
              <a:buNone/>
              <a:defRPr sz="1133"/>
            </a:lvl6pPr>
            <a:lvl7pPr marL="3108869" indent="0">
              <a:buNone/>
              <a:defRPr sz="1133"/>
            </a:lvl7pPr>
            <a:lvl8pPr marL="3627013" indent="0">
              <a:buNone/>
              <a:defRPr sz="1133"/>
            </a:lvl8pPr>
            <a:lvl9pPr marL="4145158" indent="0">
              <a:buNone/>
              <a:defRPr sz="1133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16/01/2026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462420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1760" y="518160"/>
            <a:ext cx="4456535" cy="1813560"/>
          </a:xfrm>
        </p:spPr>
        <p:txBody>
          <a:bodyPr anchor="b"/>
          <a:lstStyle>
            <a:lvl1pPr>
              <a:defRPr sz="3627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874280" y="1119082"/>
            <a:ext cx="6995160" cy="5523442"/>
          </a:xfrm>
        </p:spPr>
        <p:txBody>
          <a:bodyPr anchor="t"/>
          <a:lstStyle>
            <a:lvl1pPr marL="0" indent="0">
              <a:buNone/>
              <a:defRPr sz="3627"/>
            </a:lvl1pPr>
            <a:lvl2pPr marL="518145" indent="0">
              <a:buNone/>
              <a:defRPr sz="3173"/>
            </a:lvl2pPr>
            <a:lvl3pPr marL="1036290" indent="0">
              <a:buNone/>
              <a:defRPr sz="2720"/>
            </a:lvl3pPr>
            <a:lvl4pPr marL="1554434" indent="0">
              <a:buNone/>
              <a:defRPr sz="2267"/>
            </a:lvl4pPr>
            <a:lvl5pPr marL="2072579" indent="0">
              <a:buNone/>
              <a:defRPr sz="2267"/>
            </a:lvl5pPr>
            <a:lvl6pPr marL="2590724" indent="0">
              <a:buNone/>
              <a:defRPr sz="2267"/>
            </a:lvl6pPr>
            <a:lvl7pPr marL="3108869" indent="0">
              <a:buNone/>
              <a:defRPr sz="2267"/>
            </a:lvl7pPr>
            <a:lvl8pPr marL="3627013" indent="0">
              <a:buNone/>
              <a:defRPr sz="2267"/>
            </a:lvl8pPr>
            <a:lvl9pPr marL="4145158" indent="0">
              <a:buNone/>
              <a:defRPr sz="2267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51760" y="2331720"/>
            <a:ext cx="4456535" cy="4319800"/>
          </a:xfrm>
        </p:spPr>
        <p:txBody>
          <a:bodyPr/>
          <a:lstStyle>
            <a:lvl1pPr marL="0" indent="0">
              <a:buNone/>
              <a:defRPr sz="1813"/>
            </a:lvl1pPr>
            <a:lvl2pPr marL="518145" indent="0">
              <a:buNone/>
              <a:defRPr sz="1587"/>
            </a:lvl2pPr>
            <a:lvl3pPr marL="1036290" indent="0">
              <a:buNone/>
              <a:defRPr sz="1360"/>
            </a:lvl3pPr>
            <a:lvl4pPr marL="1554434" indent="0">
              <a:buNone/>
              <a:defRPr sz="1133"/>
            </a:lvl4pPr>
            <a:lvl5pPr marL="2072579" indent="0">
              <a:buNone/>
              <a:defRPr sz="1133"/>
            </a:lvl5pPr>
            <a:lvl6pPr marL="2590724" indent="0">
              <a:buNone/>
              <a:defRPr sz="1133"/>
            </a:lvl6pPr>
            <a:lvl7pPr marL="3108869" indent="0">
              <a:buNone/>
              <a:defRPr sz="1133"/>
            </a:lvl7pPr>
            <a:lvl8pPr marL="3627013" indent="0">
              <a:buNone/>
              <a:defRPr sz="1133"/>
            </a:lvl8pPr>
            <a:lvl9pPr marL="4145158" indent="0">
              <a:buNone/>
              <a:defRPr sz="1133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16/01/2026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864786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16/01/2026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9989982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88220" y="413808"/>
            <a:ext cx="2979420" cy="6586750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49960" y="413808"/>
            <a:ext cx="8765540" cy="6586750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16/01/2026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596657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9960" y="413809"/>
            <a:ext cx="11917680" cy="15023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9960" y="2069042"/>
            <a:ext cx="11917680" cy="49315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49960" y="7203864"/>
            <a:ext cx="310896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86245D-015E-46AE-96CC-32E8A5E9A1DF}" type="datetimeFigureOut">
              <a:rPr lang="es-CO" smtClean="0"/>
              <a:t>16/01/2026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77080" y="7203864"/>
            <a:ext cx="46634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758680" y="7203864"/>
            <a:ext cx="310896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762737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036290" rtl="0" eaLnBrk="1" latinLnBrk="0" hangingPunct="1">
        <a:lnSpc>
          <a:spcPct val="90000"/>
        </a:lnSpc>
        <a:spcBef>
          <a:spcPct val="0"/>
        </a:spcBef>
        <a:buNone/>
        <a:defRPr sz="498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9072" indent="-259072" algn="l" defTabSz="1036290" rtl="0" eaLnBrk="1" latinLnBrk="0" hangingPunct="1">
        <a:lnSpc>
          <a:spcPct val="90000"/>
        </a:lnSpc>
        <a:spcBef>
          <a:spcPts val="1133"/>
        </a:spcBef>
        <a:buFont typeface="Arial" panose="020B0604020202020204" pitchFamily="34" charset="0"/>
        <a:buChar char="•"/>
        <a:defRPr sz="3173" kern="1200">
          <a:solidFill>
            <a:schemeClr val="tx1"/>
          </a:solidFill>
          <a:latin typeface="+mn-lt"/>
          <a:ea typeface="+mn-ea"/>
          <a:cs typeface="+mn-cs"/>
        </a:defRPr>
      </a:lvl1pPr>
      <a:lvl2pPr marL="777217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720" kern="1200">
          <a:solidFill>
            <a:schemeClr val="tx1"/>
          </a:solidFill>
          <a:latin typeface="+mn-lt"/>
          <a:ea typeface="+mn-ea"/>
          <a:cs typeface="+mn-cs"/>
        </a:defRPr>
      </a:lvl2pPr>
      <a:lvl3pPr marL="1295362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267" kern="1200">
          <a:solidFill>
            <a:schemeClr val="tx1"/>
          </a:solidFill>
          <a:latin typeface="+mn-lt"/>
          <a:ea typeface="+mn-ea"/>
          <a:cs typeface="+mn-cs"/>
        </a:defRPr>
      </a:lvl3pPr>
      <a:lvl4pPr marL="1813507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4pPr>
      <a:lvl5pPr marL="2331651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5pPr>
      <a:lvl6pPr marL="2849796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6pPr>
      <a:lvl7pPr marL="3367941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7pPr>
      <a:lvl8pPr marL="3886086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8pPr>
      <a:lvl9pPr marL="4404230" indent="-259072" algn="l" defTabSz="1036290" rtl="0" eaLnBrk="1" latinLnBrk="0" hangingPunct="1">
        <a:lnSpc>
          <a:spcPct val="90000"/>
        </a:lnSpc>
        <a:spcBef>
          <a:spcPts val="567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1pPr>
      <a:lvl2pPr marL="518145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1036290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3pPr>
      <a:lvl4pPr marL="1554434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4pPr>
      <a:lvl5pPr marL="2072579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5pPr>
      <a:lvl6pPr marL="2590724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6pPr>
      <a:lvl7pPr marL="3108869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7pPr>
      <a:lvl8pPr marL="3627013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8pPr>
      <a:lvl9pPr marL="4145158" algn="l" defTabSz="1036290" rtl="0" eaLnBrk="1" latinLnBrk="0" hangingPunct="1">
        <a:defRPr sz="20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93597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1 Título"/>
          <p:cNvSpPr txBox="1">
            <a:spLocks/>
          </p:cNvSpPr>
          <p:nvPr/>
        </p:nvSpPr>
        <p:spPr>
          <a:xfrm>
            <a:off x="4331368" y="4434664"/>
            <a:ext cx="7283670" cy="15023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algn="l" defTabSz="103629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987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CO" dirty="0"/>
              <a:t>Fundamentos de Programación</a:t>
            </a:r>
          </a:p>
          <a:p>
            <a:pPr algn="r"/>
            <a:endParaRPr lang="es-CO" sz="3800" dirty="0"/>
          </a:p>
          <a:p>
            <a:pPr algn="r"/>
            <a:r>
              <a:rPr lang="es-CO" sz="3800" dirty="0"/>
              <a:t>Representaciones</a:t>
            </a:r>
          </a:p>
        </p:txBody>
      </p:sp>
      <p:sp>
        <p:nvSpPr>
          <p:cNvPr id="6" name="5 CuadroTexto"/>
          <p:cNvSpPr txBox="1"/>
          <p:nvPr/>
        </p:nvSpPr>
        <p:spPr>
          <a:xfrm>
            <a:off x="8655487" y="5812077"/>
            <a:ext cx="28850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s-CO" dirty="0"/>
              <a:t>César Augusto López Gallego</a:t>
            </a: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6325" y="1040895"/>
            <a:ext cx="5895277" cy="3142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92011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Aspectos fundamentales</a:t>
            </a:r>
            <a:endParaRPr lang="en-U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6665911" y="1781161"/>
            <a:ext cx="4906329" cy="5129425"/>
          </a:xfrm>
        </p:spPr>
        <p:txBody>
          <a:bodyPr>
            <a:normAutofit/>
          </a:bodyPr>
          <a:lstStyle/>
          <a:p>
            <a:r>
              <a:rPr lang="es-ES_tradnl" dirty="0"/>
              <a:t>Forma de representar los números (binario)</a:t>
            </a:r>
          </a:p>
          <a:p>
            <a:r>
              <a:rPr lang="es-ES_tradnl" dirty="0"/>
              <a:t>Algoritmos para realizar las operaciones aritméticas básicas</a:t>
            </a:r>
          </a:p>
          <a:p>
            <a:r>
              <a:rPr lang="es-ES_tradnl" dirty="0"/>
              <a:t>IEEE 574 para representación de números y aritmética en coma flotante, en 32 bit y 64bit</a:t>
            </a:r>
          </a:p>
          <a:p>
            <a:pPr>
              <a:buNone/>
            </a:pPr>
            <a:endParaRPr lang="en-US" dirty="0"/>
          </a:p>
        </p:txBody>
      </p:sp>
      <p:pic>
        <p:nvPicPr>
          <p:cNvPr id="32770" name="Picture 2" descr="binario2(3)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93905" y="2266939"/>
            <a:ext cx="4187680" cy="348141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388122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Entradas y salidas a la ALU</a:t>
            </a:r>
            <a:endParaRPr lang="en-US" dirty="0"/>
          </a:p>
        </p:txBody>
      </p:sp>
      <p:sp>
        <p:nvSpPr>
          <p:cNvPr id="4" name="3 Rectángulo"/>
          <p:cNvSpPr/>
          <p:nvPr/>
        </p:nvSpPr>
        <p:spPr>
          <a:xfrm>
            <a:off x="5694354" y="3400422"/>
            <a:ext cx="2428892" cy="1538298"/>
          </a:xfrm>
          <a:prstGeom prst="rect">
            <a:avLst/>
          </a:prstGeom>
          <a:scene3d>
            <a:camera prst="orthographicFront"/>
            <a:lightRig rig="threePt" dir="t"/>
          </a:scene3d>
          <a:sp3d prstMaterial="matte">
            <a:bevelT w="165100" prst="coolSlant"/>
            <a:bevelB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720" dirty="0"/>
              <a:t>ALU</a:t>
            </a:r>
            <a:endParaRPr lang="en-US" sz="2720" dirty="0"/>
          </a:p>
        </p:txBody>
      </p:sp>
      <p:sp>
        <p:nvSpPr>
          <p:cNvPr id="5" name="4 Flecha derecha"/>
          <p:cNvSpPr/>
          <p:nvPr/>
        </p:nvSpPr>
        <p:spPr>
          <a:xfrm>
            <a:off x="8851914" y="3319459"/>
            <a:ext cx="1538298" cy="48577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040" i="1" dirty="0" err="1"/>
              <a:t>Flags</a:t>
            </a:r>
            <a:endParaRPr lang="en-US" sz="2040" i="1" dirty="0"/>
          </a:p>
        </p:txBody>
      </p:sp>
      <p:sp>
        <p:nvSpPr>
          <p:cNvPr id="6" name="5 Flecha derecha"/>
          <p:cNvSpPr/>
          <p:nvPr/>
        </p:nvSpPr>
        <p:spPr>
          <a:xfrm>
            <a:off x="8851914" y="4452942"/>
            <a:ext cx="1538298" cy="48577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040" dirty="0"/>
              <a:t>Registros</a:t>
            </a:r>
            <a:endParaRPr lang="en-US" sz="2040" dirty="0"/>
          </a:p>
        </p:txBody>
      </p:sp>
      <p:sp>
        <p:nvSpPr>
          <p:cNvPr id="7" name="6 Flecha derecha"/>
          <p:cNvSpPr/>
          <p:nvPr/>
        </p:nvSpPr>
        <p:spPr>
          <a:xfrm>
            <a:off x="3751241" y="4452942"/>
            <a:ext cx="1538298" cy="48577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040" dirty="0"/>
              <a:t>Registros</a:t>
            </a:r>
            <a:endParaRPr lang="en-US" sz="2040" dirty="0"/>
          </a:p>
        </p:txBody>
      </p:sp>
      <p:sp>
        <p:nvSpPr>
          <p:cNvPr id="8" name="7 Flecha derecha"/>
          <p:cNvSpPr/>
          <p:nvPr/>
        </p:nvSpPr>
        <p:spPr>
          <a:xfrm>
            <a:off x="3751241" y="3400422"/>
            <a:ext cx="1538298" cy="48577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040" dirty="0"/>
              <a:t>C. U.</a:t>
            </a:r>
            <a:endParaRPr lang="en-US" sz="2040" dirty="0"/>
          </a:p>
        </p:txBody>
      </p:sp>
      <p:sp>
        <p:nvSpPr>
          <p:cNvPr id="9" name="8 CuadroTexto"/>
          <p:cNvSpPr txBox="1"/>
          <p:nvPr/>
        </p:nvSpPr>
        <p:spPr>
          <a:xfrm>
            <a:off x="4641835" y="5329775"/>
            <a:ext cx="4783233" cy="4062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040" dirty="0"/>
              <a:t>Entradas y salidas a la ALU. [</a:t>
            </a:r>
            <a:r>
              <a:rPr lang="es-ES_tradnl" sz="2040" dirty="0" err="1"/>
              <a:t>Stallings</a:t>
            </a:r>
            <a:r>
              <a:rPr lang="es-ES_tradnl" sz="2040" dirty="0"/>
              <a:t>, 2006]</a:t>
            </a:r>
            <a:endParaRPr lang="en-US" sz="2040" dirty="0"/>
          </a:p>
        </p:txBody>
      </p:sp>
    </p:spTree>
    <p:extLst>
      <p:ext uri="{BB962C8B-B14F-4D97-AF65-F5344CB8AC3E}">
        <p14:creationId xmlns:p14="http://schemas.microsoft.com/office/powerpoint/2010/main" val="21860081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949960" y="413809"/>
            <a:ext cx="9925304" cy="1502305"/>
          </a:xfrm>
        </p:spPr>
        <p:txBody>
          <a:bodyPr/>
          <a:lstStyle/>
          <a:p>
            <a:r>
              <a:rPr lang="es-CO" dirty="0"/>
              <a:t>Sistemas de numeración</a:t>
            </a:r>
          </a:p>
        </p:txBody>
      </p:sp>
      <p:graphicFrame>
        <p:nvGraphicFramePr>
          <p:cNvPr id="3" name="Tab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8156097"/>
              </p:ext>
            </p:extLst>
          </p:nvPr>
        </p:nvGraphicFramePr>
        <p:xfrm>
          <a:off x="2236556" y="2635442"/>
          <a:ext cx="7846229" cy="201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59415">
                  <a:extLst>
                    <a:ext uri="{9D8B030D-6E8A-4147-A177-3AD203B41FA5}">
                      <a16:colId xmlns:a16="http://schemas.microsoft.com/office/drawing/2014/main" val="3236257084"/>
                    </a:ext>
                  </a:extLst>
                </a:gridCol>
                <a:gridCol w="2002029">
                  <a:extLst>
                    <a:ext uri="{9D8B030D-6E8A-4147-A177-3AD203B41FA5}">
                      <a16:colId xmlns:a16="http://schemas.microsoft.com/office/drawing/2014/main" val="2073569553"/>
                    </a:ext>
                  </a:extLst>
                </a:gridCol>
                <a:gridCol w="3584785">
                  <a:extLst>
                    <a:ext uri="{9D8B030D-6E8A-4147-A177-3AD203B41FA5}">
                      <a16:colId xmlns:a16="http://schemas.microsoft.com/office/drawing/2014/main" val="7002378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CO" dirty="0"/>
                        <a:t>Sistema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O" dirty="0"/>
                        <a:t>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O" dirty="0"/>
                        <a:t>Caracteres</a:t>
                      </a:r>
                      <a:r>
                        <a:rPr lang="es-CO" baseline="0" dirty="0"/>
                        <a:t> para representación</a:t>
                      </a:r>
                      <a:endParaRPr lang="es-CO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08951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O" dirty="0"/>
                        <a:t>Binario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O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O" dirty="0"/>
                        <a:t>0, 1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07303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O" dirty="0"/>
                        <a:t>Octal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O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O" dirty="0"/>
                        <a:t>0,1,2,3,4,5,6,7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56356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O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O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1036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dirty="0"/>
                        <a:t>0,1,2,3,4,5,6,7,8,9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3336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O" dirty="0"/>
                        <a:t>Hexadecimal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O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O" dirty="0"/>
                        <a:t>0,1,2,3,4,5,6,7,8,9,A,B,C,D,E,F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4525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04319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C71278-0A6F-4713-A769-AAA7CBB5B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Sistema Binario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190B8B53-9C1B-4C4C-B81E-23A96DD37E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9960" y="2069042"/>
            <a:ext cx="7736840" cy="4931516"/>
          </a:xfrm>
        </p:spPr>
        <p:txBody>
          <a:bodyPr>
            <a:normAutofit fontScale="92500" lnSpcReduction="10000"/>
          </a:bodyPr>
          <a:lstStyle/>
          <a:p>
            <a:r>
              <a:rPr lang="es-CO" dirty="0"/>
              <a:t>Representado por dos elementos 1 y 0, por ello se denomina de base 2</a:t>
            </a:r>
          </a:p>
          <a:p>
            <a:r>
              <a:rPr lang="es-CO" dirty="0"/>
              <a:t>Se usa para representar a nivel de maquina dos niveles de voltaje</a:t>
            </a:r>
          </a:p>
          <a:p>
            <a:r>
              <a:rPr lang="es-CO" dirty="0"/>
              <a:t>1937 (Claude Shannon) crea el álgebra de Boole en su tesis “</a:t>
            </a:r>
            <a:r>
              <a:rPr lang="es-CO" i="1" dirty="0"/>
              <a:t>Un Análisis Simbólico de Circuitos Conmutadores y Relés</a:t>
            </a:r>
            <a:r>
              <a:rPr lang="es-CO" dirty="0"/>
              <a:t>”. Esto da la base para el diseño de circuitos digitales</a:t>
            </a:r>
          </a:p>
          <a:p>
            <a:r>
              <a:rPr lang="es-CO" dirty="0"/>
              <a:t> El número se representa combinando los elementos</a:t>
            </a:r>
          </a:p>
          <a:p>
            <a:r>
              <a:rPr lang="es-CO" dirty="0"/>
              <a:t> Este sistema es básico para calcular las unidades computacionales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6577C25-A91C-4693-8CFB-132F116539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5285" y="2591354"/>
            <a:ext cx="2661331" cy="3052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2102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D95949-F32E-4C20-9FA4-7A4BEC262B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Unidades Computacionales</a:t>
            </a:r>
          </a:p>
        </p:txBody>
      </p:sp>
      <p:grpSp>
        <p:nvGrpSpPr>
          <p:cNvPr id="15" name="Grupo 14">
            <a:extLst>
              <a:ext uri="{FF2B5EF4-FFF2-40B4-BE49-F238E27FC236}">
                <a16:creationId xmlns:a16="http://schemas.microsoft.com/office/drawing/2014/main" id="{C2C915AD-B1E4-477E-ADD9-9985F9A625B2}"/>
              </a:ext>
            </a:extLst>
          </p:cNvPr>
          <p:cNvGrpSpPr/>
          <p:nvPr/>
        </p:nvGrpSpPr>
        <p:grpSpPr>
          <a:xfrm>
            <a:off x="220710" y="2061771"/>
            <a:ext cx="8252074" cy="4679195"/>
            <a:chOff x="504492" y="2061771"/>
            <a:chExt cx="8252074" cy="4679195"/>
          </a:xfrm>
        </p:grpSpPr>
        <p:pic>
          <p:nvPicPr>
            <p:cNvPr id="4" name="Imagen 3">
              <a:extLst>
                <a:ext uri="{FF2B5EF4-FFF2-40B4-BE49-F238E27FC236}">
                  <a16:creationId xmlns:a16="http://schemas.microsoft.com/office/drawing/2014/main" id="{20D336F9-8DBA-4FCC-B0E0-7619FEDAD46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4492" y="2061771"/>
              <a:ext cx="7817008" cy="4679195"/>
            </a:xfrm>
            <a:prstGeom prst="rect">
              <a:avLst/>
            </a:prstGeom>
          </p:spPr>
        </p:pic>
        <p:sp>
          <p:nvSpPr>
            <p:cNvPr id="5" name="CuadroTexto 4">
              <a:extLst>
                <a:ext uri="{FF2B5EF4-FFF2-40B4-BE49-F238E27FC236}">
                  <a16:creationId xmlns:a16="http://schemas.microsoft.com/office/drawing/2014/main" id="{EF0D611C-2018-47AA-8445-7A4E3A997AC1}"/>
                </a:ext>
              </a:extLst>
            </p:cNvPr>
            <p:cNvSpPr txBox="1"/>
            <p:nvPr/>
          </p:nvSpPr>
          <p:spPr>
            <a:xfrm>
              <a:off x="3468407" y="2727428"/>
              <a:ext cx="705642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CO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8 bits</a:t>
              </a:r>
            </a:p>
          </p:txBody>
        </p:sp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AC4AE493-17B4-424D-8B9E-95707C1BFD72}"/>
                </a:ext>
              </a:extLst>
            </p:cNvPr>
            <p:cNvSpPr txBox="1"/>
            <p:nvPr/>
          </p:nvSpPr>
          <p:spPr>
            <a:xfrm>
              <a:off x="4629797" y="3175590"/>
              <a:ext cx="701154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CO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bytes</a:t>
              </a:r>
            </a:p>
          </p:txBody>
        </p:sp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95073A1A-2F79-4AD3-802A-FE6F94D46873}"/>
                </a:ext>
              </a:extLst>
            </p:cNvPr>
            <p:cNvSpPr txBox="1"/>
            <p:nvPr/>
          </p:nvSpPr>
          <p:spPr>
            <a:xfrm>
              <a:off x="5065972" y="3580246"/>
              <a:ext cx="962123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CO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1024 KB</a:t>
              </a:r>
            </a:p>
          </p:txBody>
        </p:sp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A288C5B6-E40C-4C74-8C6B-26CFB359CA84}"/>
                </a:ext>
              </a:extLst>
            </p:cNvPr>
            <p:cNvSpPr txBox="1"/>
            <p:nvPr/>
          </p:nvSpPr>
          <p:spPr>
            <a:xfrm>
              <a:off x="5533682" y="4000668"/>
              <a:ext cx="1037463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s-CO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1024 MB</a:t>
              </a:r>
            </a:p>
          </p:txBody>
        </p:sp>
        <p:sp>
          <p:nvSpPr>
            <p:cNvPr id="9" name="CuadroTexto 8">
              <a:extLst>
                <a:ext uri="{FF2B5EF4-FFF2-40B4-BE49-F238E27FC236}">
                  <a16:creationId xmlns:a16="http://schemas.microsoft.com/office/drawing/2014/main" id="{44F4F214-B13D-42E9-98DC-ABA0C56FBAF1}"/>
                </a:ext>
              </a:extLst>
            </p:cNvPr>
            <p:cNvSpPr txBox="1"/>
            <p:nvPr/>
          </p:nvSpPr>
          <p:spPr>
            <a:xfrm>
              <a:off x="6028095" y="4432900"/>
              <a:ext cx="1037463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s-CO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1024 GB</a:t>
              </a:r>
            </a:p>
          </p:txBody>
        </p: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B047766D-8D8E-4132-B632-25623F9D7061}"/>
                </a:ext>
              </a:extLst>
            </p:cNvPr>
            <p:cNvSpPr txBox="1"/>
            <p:nvPr/>
          </p:nvSpPr>
          <p:spPr>
            <a:xfrm>
              <a:off x="6480043" y="4869088"/>
              <a:ext cx="1037463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s-CO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1024 TB</a:t>
              </a:r>
            </a:p>
          </p:txBody>
        </p: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8981D277-D653-45F4-9E0F-DBD463C546BB}"/>
                </a:ext>
              </a:extLst>
            </p:cNvPr>
            <p:cNvSpPr txBox="1"/>
            <p:nvPr/>
          </p:nvSpPr>
          <p:spPr>
            <a:xfrm>
              <a:off x="6966133" y="5289510"/>
              <a:ext cx="1037463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s-CO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1024 PB</a:t>
              </a:r>
            </a:p>
          </p:txBody>
        </p: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F414E4D8-9259-4AF3-8D80-3391FF8A1075}"/>
                </a:ext>
              </a:extLst>
            </p:cNvPr>
            <p:cNvSpPr txBox="1"/>
            <p:nvPr/>
          </p:nvSpPr>
          <p:spPr>
            <a:xfrm>
              <a:off x="7298693" y="5709932"/>
              <a:ext cx="1037463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s-CO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1024 EB</a:t>
              </a:r>
            </a:p>
          </p:txBody>
        </p: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9E5FD0C2-E7C8-46D2-8038-8AD4CE4F35AA}"/>
                </a:ext>
              </a:extLst>
            </p:cNvPr>
            <p:cNvSpPr txBox="1"/>
            <p:nvPr/>
          </p:nvSpPr>
          <p:spPr>
            <a:xfrm>
              <a:off x="7719103" y="6146118"/>
              <a:ext cx="1037463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s-CO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1024 ZB</a:t>
              </a:r>
            </a:p>
          </p:txBody>
        </p:sp>
      </p:grpSp>
      <p:pic>
        <p:nvPicPr>
          <p:cNvPr id="14" name="Imagen 13">
            <a:extLst>
              <a:ext uri="{FF2B5EF4-FFF2-40B4-BE49-F238E27FC236}">
                <a16:creationId xmlns:a16="http://schemas.microsoft.com/office/drawing/2014/main" id="{C96D188B-294B-4C7D-B9FE-4CEE2760EA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2784" y="3578778"/>
            <a:ext cx="4851836" cy="2147402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B58312BF-9593-4188-98A2-199A0CF79F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7158" y="2484951"/>
            <a:ext cx="2553056" cy="752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9020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Representación de Enteros</a:t>
            </a:r>
            <a:endParaRPr lang="en-U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1252133" y="1687437"/>
            <a:ext cx="9326880" cy="3483654"/>
          </a:xfrm>
        </p:spPr>
        <p:txBody>
          <a:bodyPr/>
          <a:lstStyle/>
          <a:p>
            <a:r>
              <a:rPr lang="es-ES_tradnl" dirty="0"/>
              <a:t>Sistema binario se usa para almacenar y representar en el computador números enteros.</a:t>
            </a:r>
          </a:p>
          <a:p>
            <a:r>
              <a:rPr lang="es-ES_tradnl" dirty="0"/>
              <a:t>Si es positivo (sin signo), se representa de forma inmediata</a:t>
            </a:r>
          </a:p>
          <a:p>
            <a:r>
              <a:rPr lang="es-ES_tradnl" dirty="0"/>
              <a:t>No es posible, </a:t>
            </a:r>
            <a:r>
              <a:rPr lang="en-US" dirty="0" err="1"/>
              <a:t>explícitamente</a:t>
            </a:r>
            <a:r>
              <a:rPr lang="en-US" dirty="0"/>
              <a:t>, </a:t>
            </a:r>
            <a:r>
              <a:rPr lang="en-US" dirty="0" err="1"/>
              <a:t>representar</a:t>
            </a:r>
            <a:r>
              <a:rPr lang="en-US" dirty="0"/>
              <a:t> el </a:t>
            </a:r>
            <a:r>
              <a:rPr lang="en-US" dirty="0" err="1"/>
              <a:t>signo</a:t>
            </a:r>
            <a:r>
              <a:rPr lang="en-US" dirty="0"/>
              <a:t> y la coma</a:t>
            </a:r>
            <a:endParaRPr lang="es-ES_tradnl" dirty="0"/>
          </a:p>
          <a:p>
            <a:pPr marL="0" indent="0">
              <a:buNone/>
            </a:pPr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0415451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Representación de Enteros</a:t>
            </a:r>
            <a:endParaRPr lang="en-U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dirty="0"/>
              <a:t>Representación Inmediata</a:t>
            </a:r>
          </a:p>
          <a:p>
            <a:pPr lvl="1"/>
            <a:r>
              <a:rPr lang="es-ES_tradnl" dirty="0"/>
              <a:t>Se tiene una secuencia de n dígitos binarios</a:t>
            </a:r>
          </a:p>
          <a:p>
            <a:pPr lvl="1">
              <a:buNone/>
            </a:pPr>
            <a:r>
              <a:rPr lang="es-ES_tradnl" dirty="0"/>
              <a:t>	a</a:t>
            </a:r>
            <a:r>
              <a:rPr lang="es-ES_tradnl" baseline="-25000" dirty="0"/>
              <a:t>n-1</a:t>
            </a:r>
            <a:r>
              <a:rPr lang="es-ES_tradnl" dirty="0"/>
              <a:t>, a</a:t>
            </a:r>
            <a:r>
              <a:rPr lang="es-ES_tradnl" baseline="-25000" dirty="0"/>
              <a:t>n-2</a:t>
            </a:r>
            <a:r>
              <a:rPr lang="es-ES_tradnl" dirty="0"/>
              <a:t>, …a</a:t>
            </a:r>
            <a:r>
              <a:rPr lang="es-ES_tradnl" baseline="-25000" dirty="0"/>
              <a:t>1</a:t>
            </a:r>
            <a:r>
              <a:rPr lang="es-ES_tradnl" dirty="0"/>
              <a:t>, a</a:t>
            </a:r>
            <a:r>
              <a:rPr lang="es-ES_tradnl" baseline="-25000" dirty="0"/>
              <a:t>0</a:t>
            </a:r>
          </a:p>
          <a:p>
            <a:pPr lvl="1"/>
            <a:r>
              <a:rPr lang="es-ES_tradnl" dirty="0"/>
              <a:t>Se interpreta como un entero sin signo A:</a:t>
            </a:r>
            <a:endParaRPr lang="en-US" dirty="0"/>
          </a:p>
        </p:txBody>
      </p:sp>
      <p:grpSp>
        <p:nvGrpSpPr>
          <p:cNvPr id="9" name="8 Grupo"/>
          <p:cNvGrpSpPr/>
          <p:nvPr/>
        </p:nvGrpSpPr>
        <p:grpSpPr>
          <a:xfrm>
            <a:off x="5775317" y="4291016"/>
            <a:ext cx="1833484" cy="1634472"/>
            <a:chOff x="3571868" y="3476154"/>
            <a:chExt cx="1617780" cy="1442181"/>
          </a:xfrm>
        </p:grpSpPr>
        <p:pic>
          <p:nvPicPr>
            <p:cNvPr id="4" name="Picture 2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4136263" y="3774048"/>
              <a:ext cx="538163" cy="84568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5" name="4 CuadroTexto"/>
            <p:cNvSpPr txBox="1"/>
            <p:nvPr/>
          </p:nvSpPr>
          <p:spPr>
            <a:xfrm>
              <a:off x="4131968" y="4559866"/>
              <a:ext cx="551905" cy="3584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2040" dirty="0"/>
                <a:t>i = 0</a:t>
              </a:r>
              <a:endParaRPr lang="en-US" sz="2040" dirty="0"/>
            </a:p>
          </p:txBody>
        </p:sp>
        <p:sp>
          <p:nvSpPr>
            <p:cNvPr id="6" name="5 CuadroTexto"/>
            <p:cNvSpPr txBox="1"/>
            <p:nvPr/>
          </p:nvSpPr>
          <p:spPr>
            <a:xfrm>
              <a:off x="4071934" y="3476154"/>
              <a:ext cx="472698" cy="3584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2040" dirty="0"/>
                <a:t>n-1</a:t>
              </a:r>
              <a:endParaRPr lang="en-US" sz="2040" dirty="0"/>
            </a:p>
          </p:txBody>
        </p:sp>
        <p:sp>
          <p:nvSpPr>
            <p:cNvPr id="7" name="6 CuadroTexto"/>
            <p:cNvSpPr txBox="1"/>
            <p:nvPr/>
          </p:nvSpPr>
          <p:spPr>
            <a:xfrm>
              <a:off x="4636329" y="3988362"/>
              <a:ext cx="553319" cy="38930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2267" dirty="0"/>
                <a:t>2</a:t>
              </a:r>
              <a:r>
                <a:rPr lang="es-ES_tradnl" sz="2267" baseline="30000" dirty="0"/>
                <a:t>i</a:t>
              </a:r>
              <a:r>
                <a:rPr lang="es-ES_tradnl" sz="2267" dirty="0"/>
                <a:t> </a:t>
              </a:r>
              <a:r>
                <a:rPr lang="es-ES_tradnl" sz="2267" dirty="0" err="1"/>
                <a:t>a</a:t>
              </a:r>
              <a:r>
                <a:rPr lang="es-ES_tradnl" sz="2267" baseline="-25000" dirty="0" err="1"/>
                <a:t>i</a:t>
              </a:r>
              <a:endParaRPr lang="en-US" sz="2267" baseline="-25000" dirty="0"/>
            </a:p>
          </p:txBody>
        </p:sp>
        <p:sp>
          <p:nvSpPr>
            <p:cNvPr id="8" name="7 Rectángulo"/>
            <p:cNvSpPr/>
            <p:nvPr/>
          </p:nvSpPr>
          <p:spPr>
            <a:xfrm>
              <a:off x="3571868" y="3929066"/>
              <a:ext cx="493914" cy="45080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_tradnl" sz="2720" dirty="0"/>
                <a:t>A=</a:t>
              </a:r>
              <a:endParaRPr lang="en-US" sz="2720" dirty="0"/>
            </a:p>
          </p:txBody>
        </p:sp>
      </p:grpSp>
    </p:spTree>
    <p:extLst>
      <p:ext uri="{BB962C8B-B14F-4D97-AF65-F5344CB8AC3E}">
        <p14:creationId xmlns:p14="http://schemas.microsoft.com/office/powerpoint/2010/main" val="22832111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C1FA37-0DDB-48A4-8BC3-B44EC642D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Conversiones Binario – Entero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23E605D-210D-432E-903B-11ED171E82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6399" y="3614699"/>
            <a:ext cx="5360508" cy="988832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57638222-EDA3-40DE-A4CB-AED3109D6E62}"/>
              </a:ext>
            </a:extLst>
          </p:cNvPr>
          <p:cNvSpPr txBox="1"/>
          <p:nvPr/>
        </p:nvSpPr>
        <p:spPr>
          <a:xfrm>
            <a:off x="2275841" y="3403027"/>
            <a:ext cx="20474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dirty="0">
                <a:solidFill>
                  <a:srgbClr val="00B050"/>
                </a:solidFill>
              </a:rPr>
              <a:t>Orden de los bit (i): 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EC6187B-6A4A-433B-9C1B-C042178B6CA0}"/>
              </a:ext>
            </a:extLst>
          </p:cNvPr>
          <p:cNvSpPr txBox="1"/>
          <p:nvPr/>
        </p:nvSpPr>
        <p:spPr>
          <a:xfrm rot="5400000">
            <a:off x="3545459" y="2321504"/>
            <a:ext cx="204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dirty="0">
                <a:solidFill>
                  <a:srgbClr val="FF0000"/>
                </a:solidFill>
              </a:rPr>
              <a:t>Más Representativo</a:t>
            </a:r>
          </a:p>
        </p:txBody>
      </p:sp>
      <p:grpSp>
        <p:nvGrpSpPr>
          <p:cNvPr id="7" name="8 Grupo">
            <a:extLst>
              <a:ext uri="{FF2B5EF4-FFF2-40B4-BE49-F238E27FC236}">
                <a16:creationId xmlns:a16="http://schemas.microsoft.com/office/drawing/2014/main" id="{D42C71E8-0743-4CE5-9603-DF653BB40B8A}"/>
              </a:ext>
            </a:extLst>
          </p:cNvPr>
          <p:cNvGrpSpPr/>
          <p:nvPr/>
        </p:nvGrpSpPr>
        <p:grpSpPr>
          <a:xfrm>
            <a:off x="949960" y="4913160"/>
            <a:ext cx="1833484" cy="1634472"/>
            <a:chOff x="3571868" y="3476154"/>
            <a:chExt cx="1617780" cy="1442181"/>
          </a:xfrm>
        </p:grpSpPr>
        <p:pic>
          <p:nvPicPr>
            <p:cNvPr id="8" name="Picture 2">
              <a:extLst>
                <a:ext uri="{FF2B5EF4-FFF2-40B4-BE49-F238E27FC236}">
                  <a16:creationId xmlns:a16="http://schemas.microsoft.com/office/drawing/2014/main" id="{0A426873-0409-4473-A407-B0774E66EEE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4136263" y="3774048"/>
              <a:ext cx="538163" cy="84568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9" name="4 CuadroTexto">
              <a:extLst>
                <a:ext uri="{FF2B5EF4-FFF2-40B4-BE49-F238E27FC236}">
                  <a16:creationId xmlns:a16="http://schemas.microsoft.com/office/drawing/2014/main" id="{6C7FBBF9-ABEB-4219-88CE-E44625F92288}"/>
                </a:ext>
              </a:extLst>
            </p:cNvPr>
            <p:cNvSpPr txBox="1"/>
            <p:nvPr/>
          </p:nvSpPr>
          <p:spPr>
            <a:xfrm>
              <a:off x="4131968" y="4559866"/>
              <a:ext cx="551905" cy="3584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2040" dirty="0"/>
                <a:t>i = 0</a:t>
              </a:r>
              <a:endParaRPr lang="en-US" sz="2040" dirty="0"/>
            </a:p>
          </p:txBody>
        </p:sp>
        <p:sp>
          <p:nvSpPr>
            <p:cNvPr id="10" name="5 CuadroTexto">
              <a:extLst>
                <a:ext uri="{FF2B5EF4-FFF2-40B4-BE49-F238E27FC236}">
                  <a16:creationId xmlns:a16="http://schemas.microsoft.com/office/drawing/2014/main" id="{A155D9D2-5860-465D-B01E-8C34E3AFADCB}"/>
                </a:ext>
              </a:extLst>
            </p:cNvPr>
            <p:cNvSpPr txBox="1"/>
            <p:nvPr/>
          </p:nvSpPr>
          <p:spPr>
            <a:xfrm>
              <a:off x="4071934" y="3476154"/>
              <a:ext cx="472698" cy="3584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2040" dirty="0"/>
                <a:t>n-1</a:t>
              </a:r>
              <a:endParaRPr lang="en-US" sz="2040" dirty="0"/>
            </a:p>
          </p:txBody>
        </p:sp>
        <p:sp>
          <p:nvSpPr>
            <p:cNvPr id="11" name="6 CuadroTexto">
              <a:extLst>
                <a:ext uri="{FF2B5EF4-FFF2-40B4-BE49-F238E27FC236}">
                  <a16:creationId xmlns:a16="http://schemas.microsoft.com/office/drawing/2014/main" id="{081D7F01-BBF7-43E5-A57A-36C3D4EFFDF1}"/>
                </a:ext>
              </a:extLst>
            </p:cNvPr>
            <p:cNvSpPr txBox="1"/>
            <p:nvPr/>
          </p:nvSpPr>
          <p:spPr>
            <a:xfrm>
              <a:off x="4636329" y="3988362"/>
              <a:ext cx="553319" cy="38930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2267" dirty="0"/>
                <a:t>2</a:t>
              </a:r>
              <a:r>
                <a:rPr lang="es-ES_tradnl" sz="2267" baseline="30000" dirty="0"/>
                <a:t>i</a:t>
              </a:r>
              <a:r>
                <a:rPr lang="es-ES_tradnl" sz="2267" dirty="0"/>
                <a:t> </a:t>
              </a:r>
              <a:r>
                <a:rPr lang="es-ES_tradnl" sz="2267" dirty="0" err="1"/>
                <a:t>a</a:t>
              </a:r>
              <a:r>
                <a:rPr lang="es-ES_tradnl" sz="2267" baseline="-25000" dirty="0" err="1"/>
                <a:t>i</a:t>
              </a:r>
              <a:endParaRPr lang="en-US" sz="2267" baseline="-25000" dirty="0"/>
            </a:p>
          </p:txBody>
        </p:sp>
        <p:sp>
          <p:nvSpPr>
            <p:cNvPr id="12" name="7 Rectángulo">
              <a:extLst>
                <a:ext uri="{FF2B5EF4-FFF2-40B4-BE49-F238E27FC236}">
                  <a16:creationId xmlns:a16="http://schemas.microsoft.com/office/drawing/2014/main" id="{62A3F723-587E-4A8C-9467-0BA2B73737AD}"/>
                </a:ext>
              </a:extLst>
            </p:cNvPr>
            <p:cNvSpPr/>
            <p:nvPr/>
          </p:nvSpPr>
          <p:spPr>
            <a:xfrm>
              <a:off x="3571868" y="3929066"/>
              <a:ext cx="493914" cy="45080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_tradnl" sz="2720" dirty="0"/>
                <a:t>A=</a:t>
              </a:r>
              <a:endParaRPr lang="en-US" sz="2720" dirty="0"/>
            </a:p>
          </p:txBody>
        </p: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DF25108D-3684-4401-81EE-F297E67C0821}"/>
              </a:ext>
            </a:extLst>
          </p:cNvPr>
          <p:cNvSpPr txBox="1"/>
          <p:nvPr/>
        </p:nvSpPr>
        <p:spPr>
          <a:xfrm>
            <a:off x="1119352" y="4603531"/>
            <a:ext cx="1362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dirty="0"/>
              <a:t>Apliquemos:</a:t>
            </a:r>
          </a:p>
        </p:txBody>
      </p:sp>
      <p:sp>
        <p:nvSpPr>
          <p:cNvPr id="14" name="Flecha: a la derecha 13">
            <a:extLst>
              <a:ext uri="{FF2B5EF4-FFF2-40B4-BE49-F238E27FC236}">
                <a16:creationId xmlns:a16="http://schemas.microsoft.com/office/drawing/2014/main" id="{2B163274-D58D-42E3-A3B1-A4837CD0065E}"/>
              </a:ext>
            </a:extLst>
          </p:cNvPr>
          <p:cNvSpPr/>
          <p:nvPr/>
        </p:nvSpPr>
        <p:spPr>
          <a:xfrm>
            <a:off x="3176120" y="5681914"/>
            <a:ext cx="528777" cy="25295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223FAC9A-BF2B-4F74-9000-43F3165D6194}"/>
              </a:ext>
            </a:extLst>
          </p:cNvPr>
          <p:cNvSpPr txBox="1"/>
          <p:nvPr/>
        </p:nvSpPr>
        <p:spPr>
          <a:xfrm>
            <a:off x="9279250" y="4288218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800" b="1" dirty="0">
                <a:solidFill>
                  <a:srgbClr val="FF0000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766944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13" grpId="0"/>
      <p:bldP spid="1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BC0AEE-45C0-4877-BA06-E090AE082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Ejercicio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662FCDA-4832-4B20-89C0-B7469F8FD1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O" dirty="0"/>
              <a:t>Convertir los siguientes binarios en enteros:</a:t>
            </a:r>
          </a:p>
          <a:p>
            <a:pPr lvl="1"/>
            <a:r>
              <a:rPr lang="es-CO" dirty="0"/>
              <a:t>01110100</a:t>
            </a:r>
            <a:r>
              <a:rPr lang="es-CO" baseline="-25000" dirty="0"/>
              <a:t>2</a:t>
            </a:r>
            <a:endParaRPr lang="es-CO" dirty="0"/>
          </a:p>
          <a:p>
            <a:pPr lvl="1"/>
            <a:r>
              <a:rPr lang="es-CO" dirty="0"/>
              <a:t>11001001</a:t>
            </a:r>
            <a:r>
              <a:rPr lang="es-CO" baseline="-25000" dirty="0"/>
              <a:t>2</a:t>
            </a:r>
            <a:endParaRPr lang="es-CO" dirty="0"/>
          </a:p>
          <a:p>
            <a:pPr lvl="1"/>
            <a:r>
              <a:rPr lang="es-CO" dirty="0"/>
              <a:t>10000001</a:t>
            </a:r>
            <a:r>
              <a:rPr lang="es-CO" baseline="-25000" dirty="0"/>
              <a:t>2</a:t>
            </a:r>
            <a:endParaRPr lang="es-CO" dirty="0"/>
          </a:p>
          <a:p>
            <a:pPr lvl="1"/>
            <a:r>
              <a:rPr lang="es-CO" dirty="0"/>
              <a:t>00000001</a:t>
            </a:r>
            <a:r>
              <a:rPr lang="es-CO" baseline="-250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9213102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1">
            <a:extLst>
              <a:ext uri="{FF2B5EF4-FFF2-40B4-BE49-F238E27FC236}">
                <a16:creationId xmlns:a16="http://schemas.microsoft.com/office/drawing/2014/main" id="{F6447C2C-E0F0-439D-B384-199EFCB3C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960" y="413809"/>
            <a:ext cx="11047599" cy="1502305"/>
          </a:xfrm>
        </p:spPr>
        <p:txBody>
          <a:bodyPr/>
          <a:lstStyle/>
          <a:p>
            <a:r>
              <a:rPr lang="es-CO" dirty="0"/>
              <a:t>Conversiones Binario – Entero</a:t>
            </a:r>
          </a:p>
        </p:txBody>
      </p:sp>
      <p:grpSp>
        <p:nvGrpSpPr>
          <p:cNvPr id="28" name="Grupo 27">
            <a:extLst>
              <a:ext uri="{FF2B5EF4-FFF2-40B4-BE49-F238E27FC236}">
                <a16:creationId xmlns:a16="http://schemas.microsoft.com/office/drawing/2014/main" id="{9E88E6B5-4D19-4711-A202-938F188AAD10}"/>
              </a:ext>
            </a:extLst>
          </p:cNvPr>
          <p:cNvGrpSpPr/>
          <p:nvPr/>
        </p:nvGrpSpPr>
        <p:grpSpPr>
          <a:xfrm>
            <a:off x="5076495" y="1452409"/>
            <a:ext cx="5538517" cy="5543978"/>
            <a:chOff x="4193628" y="1531240"/>
            <a:chExt cx="5538517" cy="5543978"/>
          </a:xfrm>
        </p:grpSpPr>
        <p:pic>
          <p:nvPicPr>
            <p:cNvPr id="7" name="Imagen 6">
              <a:extLst>
                <a:ext uri="{FF2B5EF4-FFF2-40B4-BE49-F238E27FC236}">
                  <a16:creationId xmlns:a16="http://schemas.microsoft.com/office/drawing/2014/main" id="{E91B67C5-DF45-40F5-88CE-1D484B21C6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4516111" y="1776403"/>
              <a:ext cx="4049752" cy="3559425"/>
            </a:xfrm>
            <a:prstGeom prst="rect">
              <a:avLst/>
            </a:prstGeom>
          </p:spPr>
        </p:pic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76F8AA9A-3ADC-4255-95B1-2FCBF3A551E3}"/>
                </a:ext>
              </a:extLst>
            </p:cNvPr>
            <p:cNvSpPr txBox="1"/>
            <p:nvPr/>
          </p:nvSpPr>
          <p:spPr>
            <a:xfrm>
              <a:off x="4193628" y="1844556"/>
              <a:ext cx="73289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2800" dirty="0">
                  <a:solidFill>
                    <a:srgbClr val="FF0000"/>
                  </a:solidFill>
                </a:rPr>
                <a:t>100</a:t>
              </a:r>
            </a:p>
          </p:txBody>
        </p:sp>
        <p:sp>
          <p:nvSpPr>
            <p:cNvPr id="9" name="CuadroTexto 8">
              <a:extLst>
                <a:ext uri="{FF2B5EF4-FFF2-40B4-BE49-F238E27FC236}">
                  <a16:creationId xmlns:a16="http://schemas.microsoft.com/office/drawing/2014/main" id="{24A3544D-37BB-4030-98A8-65C64B1274F0}"/>
                </a:ext>
              </a:extLst>
            </p:cNvPr>
            <p:cNvSpPr txBox="1"/>
            <p:nvPr/>
          </p:nvSpPr>
          <p:spPr>
            <a:xfrm>
              <a:off x="5276192" y="1839296"/>
              <a:ext cx="36740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2800" dirty="0">
                  <a:solidFill>
                    <a:srgbClr val="FF0000"/>
                  </a:solidFill>
                </a:rPr>
                <a:t>2</a:t>
              </a:r>
            </a:p>
          </p:txBody>
        </p: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7F4E512A-948C-429F-9F7E-0E5378A99E7E}"/>
                </a:ext>
              </a:extLst>
            </p:cNvPr>
            <p:cNvSpPr txBox="1"/>
            <p:nvPr/>
          </p:nvSpPr>
          <p:spPr>
            <a:xfrm>
              <a:off x="5917326" y="2480430"/>
              <a:ext cx="36740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2800" dirty="0">
                  <a:solidFill>
                    <a:srgbClr val="FF0000"/>
                  </a:solidFill>
                </a:rPr>
                <a:t>2</a:t>
              </a:r>
            </a:p>
          </p:txBody>
        </p: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268C0233-3014-41E8-B228-26021AD1E409}"/>
                </a:ext>
              </a:extLst>
            </p:cNvPr>
            <p:cNvSpPr txBox="1"/>
            <p:nvPr/>
          </p:nvSpPr>
          <p:spPr>
            <a:xfrm>
              <a:off x="6642544" y="3221411"/>
              <a:ext cx="36740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2800" dirty="0">
                  <a:solidFill>
                    <a:srgbClr val="FF0000"/>
                  </a:solidFill>
                </a:rPr>
                <a:t>2</a:t>
              </a:r>
            </a:p>
          </p:txBody>
        </p: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9AE4F019-E0B9-4688-8E32-17A9D17A1077}"/>
                </a:ext>
              </a:extLst>
            </p:cNvPr>
            <p:cNvSpPr txBox="1"/>
            <p:nvPr/>
          </p:nvSpPr>
          <p:spPr>
            <a:xfrm>
              <a:off x="7362506" y="3799487"/>
              <a:ext cx="36740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2800" dirty="0">
                  <a:solidFill>
                    <a:srgbClr val="FF0000"/>
                  </a:solidFill>
                </a:rPr>
                <a:t>2</a:t>
              </a:r>
            </a:p>
          </p:txBody>
        </p: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3F9E1517-B8DD-4D1B-A53F-007784428870}"/>
                </a:ext>
              </a:extLst>
            </p:cNvPr>
            <p:cNvSpPr txBox="1"/>
            <p:nvPr/>
          </p:nvSpPr>
          <p:spPr>
            <a:xfrm>
              <a:off x="7924817" y="4677098"/>
              <a:ext cx="36740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2800" dirty="0">
                  <a:solidFill>
                    <a:srgbClr val="FF0000"/>
                  </a:solidFill>
                </a:rPr>
                <a:t>2</a:t>
              </a:r>
            </a:p>
          </p:txBody>
        </p: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3240CD72-40D2-4C4B-8435-5F0C32D7CFD2}"/>
                </a:ext>
              </a:extLst>
            </p:cNvPr>
            <p:cNvSpPr txBox="1"/>
            <p:nvPr/>
          </p:nvSpPr>
          <p:spPr>
            <a:xfrm>
              <a:off x="5097341" y="2742040"/>
              <a:ext cx="55015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2800" dirty="0">
                  <a:solidFill>
                    <a:srgbClr val="FF0000"/>
                  </a:solidFill>
                </a:rPr>
                <a:t>50</a:t>
              </a:r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7212E465-206F-4987-BB7F-C3B360828C14}"/>
                </a:ext>
              </a:extLst>
            </p:cNvPr>
            <p:cNvSpPr txBox="1"/>
            <p:nvPr/>
          </p:nvSpPr>
          <p:spPr>
            <a:xfrm>
              <a:off x="5706947" y="3320112"/>
              <a:ext cx="55015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2800" dirty="0">
                  <a:solidFill>
                    <a:srgbClr val="FF0000"/>
                  </a:solidFill>
                </a:rPr>
                <a:t>25</a:t>
              </a:r>
            </a:p>
          </p:txBody>
        </p:sp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9F40F256-C502-4A13-A030-A3A93D9A9813}"/>
                </a:ext>
              </a:extLst>
            </p:cNvPr>
            <p:cNvSpPr txBox="1"/>
            <p:nvPr/>
          </p:nvSpPr>
          <p:spPr>
            <a:xfrm>
              <a:off x="6459801" y="3877981"/>
              <a:ext cx="55015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2800" dirty="0">
                  <a:solidFill>
                    <a:srgbClr val="FF0000"/>
                  </a:solidFill>
                </a:rPr>
                <a:t>12</a:t>
              </a:r>
            </a:p>
          </p:txBody>
        </p:sp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CA5A6C81-162D-4D34-9F53-CC2CF5DC9A4D}"/>
                </a:ext>
              </a:extLst>
            </p:cNvPr>
            <p:cNvSpPr txBox="1"/>
            <p:nvPr/>
          </p:nvSpPr>
          <p:spPr>
            <a:xfrm>
              <a:off x="6990356" y="4707806"/>
              <a:ext cx="36740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2800" dirty="0">
                  <a:solidFill>
                    <a:srgbClr val="FF0000"/>
                  </a:solidFill>
                </a:rPr>
                <a:t>6</a:t>
              </a:r>
            </a:p>
          </p:txBody>
        </p:sp>
        <p:pic>
          <p:nvPicPr>
            <p:cNvPr id="20" name="Imagen 19">
              <a:extLst>
                <a:ext uri="{FF2B5EF4-FFF2-40B4-BE49-F238E27FC236}">
                  <a16:creationId xmlns:a16="http://schemas.microsoft.com/office/drawing/2014/main" id="{9E38CA56-AA1D-4642-B290-D09FD2DA998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602397" y="5183728"/>
              <a:ext cx="2104128" cy="1875969"/>
            </a:xfrm>
            <a:prstGeom prst="rect">
              <a:avLst/>
            </a:prstGeom>
          </p:spPr>
        </p:pic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E080DC74-B8F4-411E-8D78-D5AD13444A8B}"/>
                </a:ext>
              </a:extLst>
            </p:cNvPr>
            <p:cNvSpPr txBox="1"/>
            <p:nvPr/>
          </p:nvSpPr>
          <p:spPr>
            <a:xfrm>
              <a:off x="8439827" y="5129049"/>
              <a:ext cx="36740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2800" dirty="0">
                  <a:solidFill>
                    <a:srgbClr val="FF0000"/>
                  </a:solidFill>
                </a:rPr>
                <a:t>2</a:t>
              </a:r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69C350F3-ED27-46FB-9330-5B2788D285D3}"/>
                </a:ext>
              </a:extLst>
            </p:cNvPr>
            <p:cNvSpPr txBox="1"/>
            <p:nvPr/>
          </p:nvSpPr>
          <p:spPr>
            <a:xfrm>
              <a:off x="8960086" y="5791197"/>
              <a:ext cx="36740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2800" dirty="0">
                  <a:solidFill>
                    <a:srgbClr val="FF0000"/>
                  </a:solidFill>
                </a:rPr>
                <a:t>2</a:t>
              </a:r>
            </a:p>
          </p:txBody>
        </p: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6151AF3D-EDB0-44C5-8028-F466D19D60C7}"/>
                </a:ext>
              </a:extLst>
            </p:cNvPr>
            <p:cNvSpPr txBox="1"/>
            <p:nvPr/>
          </p:nvSpPr>
          <p:spPr>
            <a:xfrm>
              <a:off x="7747113" y="5306900"/>
              <a:ext cx="36740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2800" dirty="0">
                  <a:solidFill>
                    <a:srgbClr val="FF0000"/>
                  </a:solidFill>
                </a:rPr>
                <a:t>3</a:t>
              </a:r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D83FEA4E-C9C7-4744-B097-992CD45EF8CF}"/>
                </a:ext>
              </a:extLst>
            </p:cNvPr>
            <p:cNvSpPr txBox="1"/>
            <p:nvPr/>
          </p:nvSpPr>
          <p:spPr>
            <a:xfrm>
              <a:off x="8277893" y="5837676"/>
              <a:ext cx="36740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2800" dirty="0">
                  <a:solidFill>
                    <a:srgbClr val="FF0000"/>
                  </a:solidFill>
                </a:rPr>
                <a:t>1</a:t>
              </a:r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7F96B12D-4DA6-488C-9E90-923A692821BD}"/>
                </a:ext>
              </a:extLst>
            </p:cNvPr>
            <p:cNvSpPr txBox="1"/>
            <p:nvPr/>
          </p:nvSpPr>
          <p:spPr>
            <a:xfrm>
              <a:off x="8761375" y="6478810"/>
              <a:ext cx="36740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2800" dirty="0">
                  <a:solidFill>
                    <a:srgbClr val="FF0000"/>
                  </a:solidFill>
                </a:rPr>
                <a:t>0</a:t>
              </a:r>
            </a:p>
          </p:txBody>
        </p:sp>
        <p:sp>
          <p:nvSpPr>
            <p:cNvPr id="27" name="Rectángulo: esquinas redondeadas 26">
              <a:extLst>
                <a:ext uri="{FF2B5EF4-FFF2-40B4-BE49-F238E27FC236}">
                  <a16:creationId xmlns:a16="http://schemas.microsoft.com/office/drawing/2014/main" id="{82A86E6E-56D0-4E7B-894C-64B3D9F6DB5B}"/>
                </a:ext>
              </a:extLst>
            </p:cNvPr>
            <p:cNvSpPr/>
            <p:nvPr/>
          </p:nvSpPr>
          <p:spPr>
            <a:xfrm>
              <a:off x="9211903" y="6941868"/>
              <a:ext cx="520242" cy="133350"/>
            </a:xfrm>
            <a:prstGeom prst="round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</p:grpSp>
      <p:sp>
        <p:nvSpPr>
          <p:cNvPr id="31" name="Rectángulo 30">
            <a:extLst>
              <a:ext uri="{FF2B5EF4-FFF2-40B4-BE49-F238E27FC236}">
                <a16:creationId xmlns:a16="http://schemas.microsoft.com/office/drawing/2014/main" id="{5867F82F-7739-4795-A0FB-5DE03D811115}"/>
              </a:ext>
            </a:extLst>
          </p:cNvPr>
          <p:cNvSpPr/>
          <p:nvPr/>
        </p:nvSpPr>
        <p:spPr>
          <a:xfrm>
            <a:off x="8807684" y="1308538"/>
            <a:ext cx="515010" cy="4519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C6199990-C417-4F1B-A760-C89C6DB5E2E6}"/>
              </a:ext>
            </a:extLst>
          </p:cNvPr>
          <p:cNvSpPr txBox="1"/>
          <p:nvPr/>
        </p:nvSpPr>
        <p:spPr>
          <a:xfrm>
            <a:off x="5675782" y="2672458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800" b="1" dirty="0">
                <a:solidFill>
                  <a:schemeClr val="accent1">
                    <a:lumMod val="75000"/>
                  </a:schemeClr>
                </a:solidFill>
              </a:rPr>
              <a:t>0</a:t>
            </a:r>
            <a:endParaRPr lang="es-CO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46C8EAB0-63F5-43E8-AD83-C0106E7F81B2}"/>
              </a:ext>
            </a:extLst>
          </p:cNvPr>
          <p:cNvSpPr txBox="1"/>
          <p:nvPr/>
        </p:nvSpPr>
        <p:spPr>
          <a:xfrm>
            <a:off x="6222406" y="3264641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800" b="1" dirty="0">
                <a:solidFill>
                  <a:schemeClr val="accent1">
                    <a:lumMod val="75000"/>
                  </a:schemeClr>
                </a:solidFill>
              </a:rPr>
              <a:t>0</a:t>
            </a:r>
            <a:endParaRPr lang="es-CO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F8FBC3CE-2890-449D-B709-84E0DF835944}"/>
              </a:ext>
            </a:extLst>
          </p:cNvPr>
          <p:cNvSpPr txBox="1"/>
          <p:nvPr/>
        </p:nvSpPr>
        <p:spPr>
          <a:xfrm>
            <a:off x="6903895" y="381935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800" b="1" dirty="0">
                <a:solidFill>
                  <a:schemeClr val="accent1">
                    <a:lumMod val="75000"/>
                  </a:schemeClr>
                </a:solidFill>
              </a:rPr>
              <a:t>1</a:t>
            </a:r>
            <a:endParaRPr lang="es-CO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466C1EE5-01FB-4F4C-9A13-4943064AB3E6}"/>
              </a:ext>
            </a:extLst>
          </p:cNvPr>
          <p:cNvSpPr txBox="1"/>
          <p:nvPr/>
        </p:nvSpPr>
        <p:spPr>
          <a:xfrm>
            <a:off x="7479594" y="4600562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800" b="1" dirty="0">
                <a:solidFill>
                  <a:schemeClr val="accent1">
                    <a:lumMod val="75000"/>
                  </a:schemeClr>
                </a:solidFill>
              </a:rPr>
              <a:t>0</a:t>
            </a:r>
            <a:endParaRPr lang="es-CO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3EF35E5A-97FB-495F-8660-1B6FEE583D39}"/>
              </a:ext>
            </a:extLst>
          </p:cNvPr>
          <p:cNvSpPr txBox="1"/>
          <p:nvPr/>
        </p:nvSpPr>
        <p:spPr>
          <a:xfrm>
            <a:off x="8190214" y="5228069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800" b="1" dirty="0">
                <a:solidFill>
                  <a:schemeClr val="accent1">
                    <a:lumMod val="75000"/>
                  </a:schemeClr>
                </a:solidFill>
              </a:rPr>
              <a:t>0</a:t>
            </a:r>
            <a:endParaRPr lang="es-CO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91CB7AF6-704D-4C95-9CBA-82EAA9CFC45B}"/>
              </a:ext>
            </a:extLst>
          </p:cNvPr>
          <p:cNvSpPr txBox="1"/>
          <p:nvPr/>
        </p:nvSpPr>
        <p:spPr>
          <a:xfrm>
            <a:off x="8799457" y="5758845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800" b="1" dirty="0">
                <a:solidFill>
                  <a:schemeClr val="accent1">
                    <a:lumMod val="75000"/>
                  </a:schemeClr>
                </a:solidFill>
              </a:rPr>
              <a:t>1</a:t>
            </a:r>
            <a:endParaRPr lang="es-CO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89A6F177-9563-4F63-B064-0B9243D8BC93}"/>
              </a:ext>
            </a:extLst>
          </p:cNvPr>
          <p:cNvSpPr txBox="1"/>
          <p:nvPr/>
        </p:nvSpPr>
        <p:spPr>
          <a:xfrm>
            <a:off x="9343942" y="6433670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800" b="1" dirty="0">
                <a:solidFill>
                  <a:schemeClr val="accent1">
                    <a:lumMod val="75000"/>
                  </a:schemeClr>
                </a:solidFill>
              </a:rPr>
              <a:t>1</a:t>
            </a:r>
            <a:endParaRPr lang="es-CO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D00A94FA-2B7C-468E-9796-AA5250B7055F}"/>
              </a:ext>
            </a:extLst>
          </p:cNvPr>
          <p:cNvSpPr txBox="1"/>
          <p:nvPr/>
        </p:nvSpPr>
        <p:spPr>
          <a:xfrm>
            <a:off x="2005978" y="3600497"/>
            <a:ext cx="18229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3600" dirty="0">
                <a:solidFill>
                  <a:schemeClr val="accent1">
                    <a:lumMod val="75000"/>
                  </a:schemeClr>
                </a:solidFill>
              </a:rPr>
              <a:t>1100100</a:t>
            </a:r>
          </a:p>
        </p:txBody>
      </p:sp>
      <p:cxnSp>
        <p:nvCxnSpPr>
          <p:cNvPr id="41" name="Conector: angular 40">
            <a:extLst>
              <a:ext uri="{FF2B5EF4-FFF2-40B4-BE49-F238E27FC236}">
                <a16:creationId xmlns:a16="http://schemas.microsoft.com/office/drawing/2014/main" id="{F8998D05-5982-4263-94AF-6379428876F5}"/>
              </a:ext>
            </a:extLst>
          </p:cNvPr>
          <p:cNvCxnSpPr>
            <a:cxnSpLocks/>
            <a:stCxn id="32" idx="1"/>
          </p:cNvCxnSpPr>
          <p:nvPr/>
        </p:nvCxnSpPr>
        <p:spPr>
          <a:xfrm rot="10800000" flipV="1">
            <a:off x="3733258" y="2934067"/>
            <a:ext cx="1942524" cy="88528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ector: angular 49">
            <a:extLst>
              <a:ext uri="{FF2B5EF4-FFF2-40B4-BE49-F238E27FC236}">
                <a16:creationId xmlns:a16="http://schemas.microsoft.com/office/drawing/2014/main" id="{7A8D6F61-466B-4DD9-92C1-A787148F0D2B}"/>
              </a:ext>
            </a:extLst>
          </p:cNvPr>
          <p:cNvCxnSpPr>
            <a:stCxn id="38" idx="1"/>
            <a:endCxn id="39" idx="1"/>
          </p:cNvCxnSpPr>
          <p:nvPr/>
        </p:nvCxnSpPr>
        <p:spPr>
          <a:xfrm rot="10800000">
            <a:off x="2005978" y="3923664"/>
            <a:ext cx="7337964" cy="2771617"/>
          </a:xfrm>
          <a:prstGeom prst="bentConnector3">
            <a:avLst>
              <a:gd name="adj1" fmla="val 10311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19826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2EB943-2884-4760-9365-4BA336342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Ejercicios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5875174-8F3D-43B1-8CE5-2D14C3958A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O" dirty="0"/>
              <a:t>Representar en Binario los siguientes decimales:</a:t>
            </a:r>
          </a:p>
          <a:p>
            <a:pPr lvl="1"/>
            <a:r>
              <a:rPr lang="es-CO" dirty="0"/>
              <a:t>128</a:t>
            </a:r>
            <a:r>
              <a:rPr lang="es-CO" baseline="-25000" dirty="0"/>
              <a:t>10</a:t>
            </a:r>
          </a:p>
          <a:p>
            <a:pPr lvl="1"/>
            <a:r>
              <a:rPr lang="es-CO" dirty="0"/>
              <a:t>256</a:t>
            </a:r>
            <a:r>
              <a:rPr lang="es-CO" baseline="-25000" dirty="0"/>
              <a:t>10</a:t>
            </a:r>
            <a:endParaRPr lang="es-CO" dirty="0"/>
          </a:p>
          <a:p>
            <a:pPr lvl="1"/>
            <a:r>
              <a:rPr lang="es-CO" dirty="0"/>
              <a:t>1024</a:t>
            </a:r>
            <a:r>
              <a:rPr lang="es-CO" baseline="-25000" dirty="0"/>
              <a:t>10</a:t>
            </a:r>
            <a:endParaRPr lang="es-CO" dirty="0"/>
          </a:p>
          <a:p>
            <a:pPr lvl="1"/>
            <a:r>
              <a:rPr lang="es-CO" dirty="0"/>
              <a:t>5500</a:t>
            </a:r>
            <a:r>
              <a:rPr lang="es-CO" baseline="-25000" dirty="0"/>
              <a:t>10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6658010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A57701-97D0-4658-80CF-8A5A424F5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Representación Hexadecimal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75EC0D0-990D-4E2E-9080-F3014E4006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9381" y="2679842"/>
            <a:ext cx="4729617" cy="3169165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3BBFB606-A8B0-48CB-9659-D5EBC5E12A1A}"/>
              </a:ext>
            </a:extLst>
          </p:cNvPr>
          <p:cNvSpPr txBox="1"/>
          <p:nvPr/>
        </p:nvSpPr>
        <p:spPr>
          <a:xfrm>
            <a:off x="8607972" y="5849007"/>
            <a:ext cx="31233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dirty="0"/>
              <a:t>Convertir hexadecimal a entero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AEDC722E-6029-46B9-A588-AF93560A20AF}"/>
              </a:ext>
            </a:extLst>
          </p:cNvPr>
          <p:cNvSpPr txBox="1"/>
          <p:nvPr/>
        </p:nvSpPr>
        <p:spPr>
          <a:xfrm>
            <a:off x="1150882" y="2203385"/>
            <a:ext cx="619584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400" dirty="0"/>
              <a:t>Su base es 16</a:t>
            </a:r>
          </a:p>
          <a:p>
            <a:endParaRPr lang="es-CO" sz="2400" dirty="0"/>
          </a:p>
          <a:p>
            <a:r>
              <a:rPr lang="es-CO" sz="2400" dirty="0"/>
              <a:t>Utilizado ampliamente en el direccionamiento IPV6 y la tabla RGB 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E7728D1B-04CC-40A2-8660-DA82705F8C73}"/>
              </a:ext>
            </a:extLst>
          </p:cNvPr>
          <p:cNvSpPr txBox="1"/>
          <p:nvPr/>
        </p:nvSpPr>
        <p:spPr>
          <a:xfrm>
            <a:off x="1150882" y="3918427"/>
            <a:ext cx="539180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000" dirty="0"/>
              <a:t>CAFE</a:t>
            </a:r>
            <a:r>
              <a:rPr lang="es-CO" sz="2000" baseline="-25000" dirty="0"/>
              <a:t>16</a:t>
            </a:r>
            <a:r>
              <a:rPr lang="es-CO" sz="2000" dirty="0"/>
              <a:t> en decimal:</a:t>
            </a:r>
          </a:p>
          <a:p>
            <a:endParaRPr lang="es-CO" sz="2000" dirty="0"/>
          </a:p>
          <a:p>
            <a:r>
              <a:rPr lang="es-CO" sz="2000" dirty="0"/>
              <a:t>3 2 1 0</a:t>
            </a:r>
          </a:p>
          <a:p>
            <a:r>
              <a:rPr lang="es-CO" sz="2000" dirty="0"/>
              <a:t>C A F E</a:t>
            </a:r>
          </a:p>
          <a:p>
            <a:r>
              <a:rPr lang="es-CO" sz="2000" dirty="0"/>
              <a:t>C = 12 * 16</a:t>
            </a:r>
            <a:r>
              <a:rPr lang="es-CO" sz="2000" baseline="30000" dirty="0"/>
              <a:t>3</a:t>
            </a:r>
            <a:r>
              <a:rPr lang="es-CO" sz="2000" dirty="0"/>
              <a:t> = 49152</a:t>
            </a:r>
          </a:p>
          <a:p>
            <a:r>
              <a:rPr lang="es-CO" sz="2000" dirty="0"/>
              <a:t>A = 10 * 16</a:t>
            </a:r>
            <a:r>
              <a:rPr lang="es-CO" sz="2000" baseline="30000" dirty="0"/>
              <a:t>2 </a:t>
            </a:r>
            <a:r>
              <a:rPr lang="es-CO" sz="2000" dirty="0"/>
              <a:t>= 2560</a:t>
            </a:r>
          </a:p>
          <a:p>
            <a:r>
              <a:rPr lang="es-CO" sz="2000" dirty="0"/>
              <a:t>F = 15 *16</a:t>
            </a:r>
            <a:r>
              <a:rPr lang="es-CO" sz="2000" baseline="30000" dirty="0"/>
              <a:t>1</a:t>
            </a:r>
            <a:r>
              <a:rPr lang="es-CO" sz="2000" dirty="0"/>
              <a:t> = 240</a:t>
            </a:r>
          </a:p>
          <a:p>
            <a:r>
              <a:rPr lang="es-CO" sz="2000" dirty="0"/>
              <a:t>E = 14 * 16</a:t>
            </a:r>
            <a:r>
              <a:rPr lang="es-CO" sz="2000" baseline="30000" dirty="0"/>
              <a:t>0</a:t>
            </a:r>
            <a:r>
              <a:rPr lang="es-CO" sz="2000" dirty="0"/>
              <a:t> = 14</a:t>
            </a:r>
          </a:p>
          <a:p>
            <a:endParaRPr lang="es-CO" sz="2000" dirty="0"/>
          </a:p>
          <a:p>
            <a:r>
              <a:rPr lang="es-CO" sz="2000" dirty="0"/>
              <a:t>51966</a:t>
            </a:r>
            <a:r>
              <a:rPr lang="es-CO" sz="2000" baseline="-25000" dirty="0"/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2638653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A409DC-A188-46B8-B90B-B8FA2D72D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Ejercicio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852177D-3801-4341-AE69-AE38B7095C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Convertir</a:t>
            </a:r>
            <a:r>
              <a:rPr lang="en-US" dirty="0"/>
              <a:t>  51966</a:t>
            </a:r>
            <a:r>
              <a:rPr lang="en-US" baseline="-25000" dirty="0"/>
              <a:t>10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Hexadecimal</a:t>
            </a:r>
          </a:p>
          <a:p>
            <a:r>
              <a:rPr lang="en-US" dirty="0" err="1"/>
              <a:t>Convertir</a:t>
            </a:r>
            <a:r>
              <a:rPr lang="en-US" dirty="0"/>
              <a:t> 1973</a:t>
            </a:r>
            <a:r>
              <a:rPr lang="en-US" baseline="-25000" dirty="0"/>
              <a:t>10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Hexadecimal</a:t>
            </a:r>
          </a:p>
          <a:p>
            <a:r>
              <a:rPr lang="en-US" dirty="0" err="1"/>
              <a:t>Convertir</a:t>
            </a:r>
            <a:r>
              <a:rPr lang="en-US" dirty="0"/>
              <a:t> 1236</a:t>
            </a:r>
            <a:r>
              <a:rPr lang="en-US" baseline="-25000" dirty="0"/>
              <a:t>16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decimal</a:t>
            </a:r>
          </a:p>
          <a:p>
            <a:r>
              <a:rPr lang="en-US" dirty="0" err="1"/>
              <a:t>Convertir</a:t>
            </a:r>
            <a:r>
              <a:rPr lang="en-US" dirty="0"/>
              <a:t> 12A</a:t>
            </a:r>
            <a:r>
              <a:rPr lang="en-US" baseline="-25000" dirty="0"/>
              <a:t>16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decimal</a:t>
            </a:r>
          </a:p>
          <a:p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5040703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D99850-A710-4150-802D-940CCE0E0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Tarea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35722C9-ABBB-4EDB-B130-3EF0DA4714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5470" y="2844741"/>
            <a:ext cx="3250139" cy="3193451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2B155A7A-2D3C-47AA-8145-3B56B015DECC}"/>
              </a:ext>
            </a:extLst>
          </p:cNvPr>
          <p:cNvSpPr txBox="1"/>
          <p:nvPr/>
        </p:nvSpPr>
        <p:spPr>
          <a:xfrm>
            <a:off x="1198179" y="2680138"/>
            <a:ext cx="8450134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Consultar</a:t>
            </a:r>
            <a:r>
              <a:rPr lang="en-US" sz="2800" dirty="0"/>
              <a:t> la conversion Octal a decimal y decimal a Octal</a:t>
            </a:r>
          </a:p>
          <a:p>
            <a:endParaRPr lang="en-US" sz="2800" dirty="0"/>
          </a:p>
          <a:p>
            <a:r>
              <a:rPr lang="en-US" sz="2800" dirty="0"/>
              <a:t>Y </a:t>
            </a:r>
            <a:r>
              <a:rPr lang="en-US" sz="2800" dirty="0" err="1"/>
              <a:t>realizar</a:t>
            </a:r>
            <a:r>
              <a:rPr lang="en-US" sz="2800" dirty="0"/>
              <a:t>  </a:t>
            </a:r>
            <a:r>
              <a:rPr lang="en-US" sz="2800" dirty="0" err="1"/>
              <a:t>los</a:t>
            </a:r>
            <a:r>
              <a:rPr lang="en-US" sz="2800" dirty="0"/>
              <a:t> </a:t>
            </a:r>
            <a:r>
              <a:rPr lang="en-US" sz="2800" dirty="0" err="1"/>
              <a:t>siguientes</a:t>
            </a:r>
            <a:r>
              <a:rPr lang="en-US" sz="2800" dirty="0"/>
              <a:t> </a:t>
            </a:r>
            <a:r>
              <a:rPr lang="en-US" sz="2800" dirty="0" err="1"/>
              <a:t>ejercicios</a:t>
            </a:r>
            <a:r>
              <a:rPr lang="en-US" sz="2800" dirty="0"/>
              <a:t>:</a:t>
            </a:r>
          </a:p>
          <a:p>
            <a:endParaRPr lang="en-US" sz="2800" dirty="0"/>
          </a:p>
          <a:p>
            <a:r>
              <a:rPr lang="en-US" sz="2800" dirty="0"/>
              <a:t>105</a:t>
            </a:r>
            <a:r>
              <a:rPr lang="en-US" sz="2800" baseline="-25000" dirty="0"/>
              <a:t>8</a:t>
            </a:r>
            <a:r>
              <a:rPr lang="en-US" sz="2800" dirty="0"/>
              <a:t> a decimal</a:t>
            </a:r>
          </a:p>
          <a:p>
            <a:endParaRPr lang="en-US" sz="2800" dirty="0"/>
          </a:p>
          <a:p>
            <a:r>
              <a:rPr lang="en-US" sz="2800" dirty="0"/>
              <a:t>1</a:t>
            </a:r>
            <a:r>
              <a:rPr lang="es-CO" sz="2800" dirty="0"/>
              <a:t>580</a:t>
            </a:r>
            <a:r>
              <a:rPr lang="es-CO" sz="2800" baseline="-25000" dirty="0"/>
              <a:t>10</a:t>
            </a:r>
            <a:r>
              <a:rPr lang="es-CO" sz="2800" dirty="0"/>
              <a:t> a octal</a:t>
            </a:r>
          </a:p>
        </p:txBody>
      </p:sp>
    </p:spTree>
    <p:extLst>
      <p:ext uri="{BB962C8B-B14F-4D97-AF65-F5344CB8AC3E}">
        <p14:creationId xmlns:p14="http://schemas.microsoft.com/office/powerpoint/2010/main" val="11439352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AD2889-ADBA-4C1B-BC4C-1BA88B264C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5949" y="321212"/>
            <a:ext cx="11917680" cy="1502305"/>
          </a:xfrm>
        </p:spPr>
        <p:txBody>
          <a:bodyPr/>
          <a:lstStyle/>
          <a:p>
            <a:r>
              <a:rPr lang="es-ES" dirty="0"/>
              <a:t>Ejercicio en Clase 1ª Parte</a:t>
            </a:r>
            <a:endParaRPr lang="es-419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15836C7-10CE-4C3D-ADEF-374D9C03C0A6}"/>
              </a:ext>
            </a:extLst>
          </p:cNvPr>
          <p:cNvSpPr txBox="1"/>
          <p:nvPr/>
        </p:nvSpPr>
        <p:spPr>
          <a:xfrm>
            <a:off x="601181" y="2240205"/>
            <a:ext cx="4954668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2000" dirty="0"/>
              <a:t>🔢 1. Conversión binario → decimal → hexadecimal   Convierte el número binario 1011011₂ a:</a:t>
            </a:r>
          </a:p>
          <a:p>
            <a:endParaRPr lang="es-419" sz="2000" dirty="0"/>
          </a:p>
          <a:p>
            <a:pPr marL="342900" indent="-342900">
              <a:buAutoNum type="alphaLcParenR"/>
            </a:pPr>
            <a:r>
              <a:rPr lang="es-419" sz="2000" dirty="0"/>
              <a:t>Decimal</a:t>
            </a:r>
          </a:p>
          <a:p>
            <a:pPr marL="342900" indent="-342900">
              <a:buAutoNum type="alphaLcParenR"/>
            </a:pPr>
            <a:r>
              <a:rPr lang="es-419" sz="2000" dirty="0"/>
              <a:t>b) Hexadecimal</a:t>
            </a:r>
          </a:p>
          <a:p>
            <a:endParaRPr lang="es-419" sz="2000" dirty="0"/>
          </a:p>
          <a:p>
            <a:r>
              <a:rPr lang="es-419" sz="2000" dirty="0"/>
              <a:t>🔢 2. Conversión decimal → binario → octal  Convierte el número decimal 245₁₀ a:</a:t>
            </a:r>
          </a:p>
          <a:p>
            <a:endParaRPr lang="es-419" sz="2000" dirty="0"/>
          </a:p>
          <a:p>
            <a:pPr marL="342900" indent="-342900">
              <a:buAutoNum type="alphaLcParenR"/>
            </a:pPr>
            <a:r>
              <a:rPr lang="es-419" sz="2000" dirty="0"/>
              <a:t>Binario</a:t>
            </a:r>
          </a:p>
          <a:p>
            <a:pPr marL="342900" indent="-342900">
              <a:buAutoNum type="alphaLcParenR"/>
            </a:pPr>
            <a:r>
              <a:rPr lang="es-419" sz="2000" dirty="0"/>
              <a:t>Octal</a:t>
            </a:r>
          </a:p>
          <a:p>
            <a:endParaRPr lang="es-419" sz="2000" dirty="0"/>
          </a:p>
          <a:p>
            <a:endParaRPr lang="es-419" sz="2000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5E33B56E-3D84-4CC2-BABC-9D9C73A8C819}"/>
              </a:ext>
            </a:extLst>
          </p:cNvPr>
          <p:cNvSpPr txBox="1"/>
          <p:nvPr/>
        </p:nvSpPr>
        <p:spPr>
          <a:xfrm>
            <a:off x="6695954" y="2240205"/>
            <a:ext cx="548061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2000" dirty="0"/>
              <a:t>🔢 3. Conversión hexadecimal → binario → decimal  Convierte el número hexadecimal 3F₁₆ a:</a:t>
            </a:r>
          </a:p>
          <a:p>
            <a:endParaRPr lang="es-419" sz="2000" dirty="0"/>
          </a:p>
          <a:p>
            <a:pPr marL="342900" indent="-342900">
              <a:buAutoNum type="alphaLcParenR"/>
            </a:pPr>
            <a:r>
              <a:rPr lang="es-419" sz="2000" dirty="0"/>
              <a:t>Binario</a:t>
            </a:r>
          </a:p>
          <a:p>
            <a:pPr marL="342900" indent="-342900">
              <a:buAutoNum type="alphaLcParenR"/>
            </a:pPr>
            <a:r>
              <a:rPr lang="es-419" sz="2000" dirty="0"/>
              <a:t>Decimal</a:t>
            </a:r>
          </a:p>
          <a:p>
            <a:endParaRPr lang="es-419" sz="2000" dirty="0"/>
          </a:p>
          <a:p>
            <a:endParaRPr lang="es-419" sz="2000" dirty="0"/>
          </a:p>
          <a:p>
            <a:r>
              <a:rPr lang="es-419" sz="2000" dirty="0"/>
              <a:t>🔢 4. Conversión octal → binario → hexadecimal  Convierte el número octal 572₈ a:</a:t>
            </a:r>
          </a:p>
          <a:p>
            <a:endParaRPr lang="es-419" sz="2000" dirty="0"/>
          </a:p>
          <a:p>
            <a:pPr marL="342900" indent="-342900">
              <a:buAutoNum type="alphaLcParenR"/>
            </a:pPr>
            <a:r>
              <a:rPr lang="es-419" sz="2000" dirty="0"/>
              <a:t>Binario</a:t>
            </a:r>
          </a:p>
          <a:p>
            <a:pPr marL="342900" indent="-342900">
              <a:buAutoNum type="alphaLcParenR"/>
            </a:pPr>
            <a:r>
              <a:rPr lang="es-419" sz="2000" dirty="0"/>
              <a:t>Hexadecimal</a:t>
            </a:r>
          </a:p>
        </p:txBody>
      </p:sp>
    </p:spTree>
    <p:extLst>
      <p:ext uri="{BB962C8B-B14F-4D97-AF65-F5344CB8AC3E}">
        <p14:creationId xmlns:p14="http://schemas.microsoft.com/office/powerpoint/2010/main" val="36360477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D97F5D-D37D-42DD-9875-610887AB7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4800" dirty="0"/>
              <a:t>Conversión de flotantes </a:t>
            </a:r>
            <a:br>
              <a:rPr lang="es-ES" sz="4000" dirty="0"/>
            </a:br>
            <a:r>
              <a:rPr lang="es-ES" sz="4000" dirty="0"/>
              <a:t>Binario-Decimal</a:t>
            </a:r>
            <a:endParaRPr lang="es-419" sz="4000" dirty="0"/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B40C7C12-4877-4D3B-A0F1-052D500F5B69}"/>
              </a:ext>
            </a:extLst>
          </p:cNvPr>
          <p:cNvSpPr txBox="1">
            <a:spLocks/>
          </p:cNvSpPr>
          <p:nvPr/>
        </p:nvSpPr>
        <p:spPr>
          <a:xfrm>
            <a:off x="949960" y="2069042"/>
            <a:ext cx="11917680" cy="1943148"/>
          </a:xfrm>
          <a:prstGeom prst="rect">
            <a:avLst/>
          </a:prstGeom>
        </p:spPr>
        <p:txBody>
          <a:bodyPr/>
          <a:lstStyle>
            <a:lvl1pPr marL="259072" indent="-259072" algn="l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Char char="•"/>
              <a:defRPr sz="31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77217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7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95362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13507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31651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849796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67941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86086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04230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2400" dirty="0"/>
              <a:t>Paso 1: Separa la parte entera y la parte fraccionaria</a:t>
            </a:r>
          </a:p>
          <a:p>
            <a:r>
              <a:rPr lang="es-ES" sz="2400" dirty="0"/>
              <a:t>Paso 2: Convierte los bits de la parte entera a decimal como ya lo hemos visto (usa las cajitas)</a:t>
            </a:r>
          </a:p>
          <a:p>
            <a:r>
              <a:rPr lang="es-419" sz="2400" dirty="0"/>
              <a:t>Paso 3: Multiplica los bits de la parte fraccionaria para convertirlos a decimal, para ello usemos esta cajita:</a:t>
            </a:r>
            <a:endParaRPr lang="es-CO" sz="2400" dirty="0"/>
          </a:p>
        </p:txBody>
      </p:sp>
      <p:graphicFrame>
        <p:nvGraphicFramePr>
          <p:cNvPr id="5" name="Tabla 5">
            <a:extLst>
              <a:ext uri="{FF2B5EF4-FFF2-40B4-BE49-F238E27FC236}">
                <a16:creationId xmlns:a16="http://schemas.microsoft.com/office/drawing/2014/main" id="{B8CFBB29-649F-4542-A4E8-7AED0A504B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5166226"/>
              </p:ext>
            </p:extLst>
          </p:nvPr>
        </p:nvGraphicFramePr>
        <p:xfrm>
          <a:off x="2960914" y="4090934"/>
          <a:ext cx="7895772" cy="80467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15962">
                  <a:extLst>
                    <a:ext uri="{9D8B030D-6E8A-4147-A177-3AD203B41FA5}">
                      <a16:colId xmlns:a16="http://schemas.microsoft.com/office/drawing/2014/main" val="3412528817"/>
                    </a:ext>
                  </a:extLst>
                </a:gridCol>
                <a:gridCol w="1315962">
                  <a:extLst>
                    <a:ext uri="{9D8B030D-6E8A-4147-A177-3AD203B41FA5}">
                      <a16:colId xmlns:a16="http://schemas.microsoft.com/office/drawing/2014/main" val="3568994439"/>
                    </a:ext>
                  </a:extLst>
                </a:gridCol>
                <a:gridCol w="1315962">
                  <a:extLst>
                    <a:ext uri="{9D8B030D-6E8A-4147-A177-3AD203B41FA5}">
                      <a16:colId xmlns:a16="http://schemas.microsoft.com/office/drawing/2014/main" val="4282465981"/>
                    </a:ext>
                  </a:extLst>
                </a:gridCol>
                <a:gridCol w="1315962">
                  <a:extLst>
                    <a:ext uri="{9D8B030D-6E8A-4147-A177-3AD203B41FA5}">
                      <a16:colId xmlns:a16="http://schemas.microsoft.com/office/drawing/2014/main" val="3334606244"/>
                    </a:ext>
                  </a:extLst>
                </a:gridCol>
                <a:gridCol w="1315962">
                  <a:extLst>
                    <a:ext uri="{9D8B030D-6E8A-4147-A177-3AD203B41FA5}">
                      <a16:colId xmlns:a16="http://schemas.microsoft.com/office/drawing/2014/main" val="2954575977"/>
                    </a:ext>
                  </a:extLst>
                </a:gridCol>
                <a:gridCol w="1315962">
                  <a:extLst>
                    <a:ext uri="{9D8B030D-6E8A-4147-A177-3AD203B41FA5}">
                      <a16:colId xmlns:a16="http://schemas.microsoft.com/office/drawing/2014/main" val="34500434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419" dirty="0"/>
                        <a:t>2⁻¹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419" dirty="0"/>
                        <a:t>2⁻²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419" dirty="0"/>
                        <a:t>2⁻³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419" dirty="0"/>
                        <a:t>2⁻⁴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419" dirty="0"/>
                        <a:t>2⁻⁵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419" dirty="0"/>
                        <a:t>2⁻⁶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174822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419" dirty="0"/>
                        <a:t>0.5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419" dirty="0"/>
                        <a:t>0.25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419" dirty="0"/>
                        <a:t>0.125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419" dirty="0"/>
                        <a:t>0.0625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419" dirty="0"/>
                        <a:t>0.03125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419" dirty="0"/>
                        <a:t>0.015625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739079"/>
                  </a:ext>
                </a:extLst>
              </a:tr>
            </a:tbl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2CCFA170-838C-40B2-9244-B6C14241E30A}"/>
              </a:ext>
            </a:extLst>
          </p:cNvPr>
          <p:cNvSpPr txBox="1"/>
          <p:nvPr/>
        </p:nvSpPr>
        <p:spPr>
          <a:xfrm>
            <a:off x="2419107" y="3940577"/>
            <a:ext cx="39911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6600" b="1" dirty="0"/>
              <a:t>.</a:t>
            </a:r>
            <a:endParaRPr lang="es-419" sz="6600" b="1" dirty="0"/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1A9487FF-36D4-4FB1-90B8-50FF973C09A5}"/>
              </a:ext>
            </a:extLst>
          </p:cNvPr>
          <p:cNvCxnSpPr>
            <a:cxnSpLocks/>
          </p:cNvCxnSpPr>
          <p:nvPr/>
        </p:nvCxnSpPr>
        <p:spPr>
          <a:xfrm flipV="1">
            <a:off x="2618665" y="5019916"/>
            <a:ext cx="1" cy="5356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uadroTexto 8">
            <a:extLst>
              <a:ext uri="{FF2B5EF4-FFF2-40B4-BE49-F238E27FC236}">
                <a16:creationId xmlns:a16="http://schemas.microsoft.com/office/drawing/2014/main" id="{4F37CFE1-503F-48FD-8466-CE77CE807DBC}"/>
              </a:ext>
            </a:extLst>
          </p:cNvPr>
          <p:cNvSpPr txBox="1"/>
          <p:nvPr/>
        </p:nvSpPr>
        <p:spPr>
          <a:xfrm>
            <a:off x="1652199" y="5634270"/>
            <a:ext cx="15661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>
                <a:solidFill>
                  <a:schemeClr val="accent1"/>
                </a:solidFill>
              </a:rPr>
              <a:t>Punto flotante</a:t>
            </a:r>
            <a:endParaRPr lang="es-419" b="1" dirty="0">
              <a:solidFill>
                <a:schemeClr val="accent1"/>
              </a:solidFill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B659BDD7-15F0-4C2A-BBF3-5DD05E1DF4DE}"/>
              </a:ext>
            </a:extLst>
          </p:cNvPr>
          <p:cNvSpPr txBox="1">
            <a:spLocks/>
          </p:cNvSpPr>
          <p:nvPr/>
        </p:nvSpPr>
        <p:spPr>
          <a:xfrm>
            <a:off x="949960" y="6384498"/>
            <a:ext cx="11917680" cy="535610"/>
          </a:xfrm>
          <a:prstGeom prst="rect">
            <a:avLst/>
          </a:prstGeom>
        </p:spPr>
        <p:txBody>
          <a:bodyPr/>
          <a:lstStyle>
            <a:lvl1pPr marL="259072" indent="-259072" algn="l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Char char="•"/>
              <a:defRPr sz="31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77217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7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95362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13507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31651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849796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67941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86086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04230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2400" dirty="0"/>
              <a:t>Paso 4: Une el resultado de la parte decimal + el punto + el resultado de la parte flotante</a:t>
            </a:r>
            <a:endParaRPr lang="es-CO" sz="2400" dirty="0"/>
          </a:p>
        </p:txBody>
      </p:sp>
    </p:spTree>
    <p:extLst>
      <p:ext uri="{BB962C8B-B14F-4D97-AF65-F5344CB8AC3E}">
        <p14:creationId xmlns:p14="http://schemas.microsoft.com/office/powerpoint/2010/main" val="35210194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069753-B98A-482C-B21A-89D6DA3E6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z="5400" dirty="0"/>
              <a:t>Conversión de flotantes </a:t>
            </a:r>
            <a:br>
              <a:rPr lang="es-ES" sz="4400" dirty="0"/>
            </a:br>
            <a:r>
              <a:rPr lang="es-ES" sz="4400" dirty="0"/>
              <a:t>Binario-Decimal</a:t>
            </a:r>
            <a:endParaRPr lang="es-419" dirty="0"/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38B4559C-396A-4796-B173-8D1857A7FDEC}"/>
              </a:ext>
            </a:extLst>
          </p:cNvPr>
          <p:cNvSpPr txBox="1">
            <a:spLocks/>
          </p:cNvSpPr>
          <p:nvPr/>
        </p:nvSpPr>
        <p:spPr>
          <a:xfrm>
            <a:off x="949960" y="2913993"/>
            <a:ext cx="11917680" cy="3093267"/>
          </a:xfrm>
          <a:prstGeom prst="rect">
            <a:avLst/>
          </a:prstGeom>
        </p:spPr>
        <p:txBody>
          <a:bodyPr/>
          <a:lstStyle>
            <a:lvl1pPr marL="259072" indent="-259072" algn="l" defTabSz="1036290" rtl="0" eaLnBrk="1" latinLnBrk="0" hangingPunct="1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Char char="•"/>
              <a:defRPr sz="31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77217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7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95362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13507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31651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849796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67941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86086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04230" indent="-259072" algn="l" defTabSz="1036290" rtl="0" eaLnBrk="1" latinLnBrk="0" hangingPunct="1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419" sz="2800" dirty="0"/>
              <a:t>Convierte </a:t>
            </a:r>
            <a:r>
              <a:rPr lang="es-419" sz="2800" b="1" dirty="0">
                <a:highlight>
                  <a:srgbClr val="FFFF00"/>
                </a:highlight>
              </a:rPr>
              <a:t>101.011₂</a:t>
            </a:r>
            <a:r>
              <a:rPr lang="es-419" sz="2800" dirty="0"/>
              <a:t> a decimal</a:t>
            </a:r>
          </a:p>
          <a:p>
            <a:r>
              <a:rPr lang="es-ES" sz="2800" dirty="0"/>
              <a:t>Paso 1: Separa las partes:  Parte entera: </a:t>
            </a:r>
            <a:r>
              <a:rPr lang="es-ES" sz="2800" dirty="0">
                <a:highlight>
                  <a:srgbClr val="C0C0C0"/>
                </a:highlight>
              </a:rPr>
              <a:t>101</a:t>
            </a:r>
            <a:r>
              <a:rPr lang="es-ES" sz="2800" dirty="0"/>
              <a:t>   |  Parte Flotante: </a:t>
            </a:r>
            <a:r>
              <a:rPr lang="es-ES" sz="2800" dirty="0">
                <a:highlight>
                  <a:srgbClr val="C0C0C0"/>
                </a:highlight>
              </a:rPr>
              <a:t>.011</a:t>
            </a:r>
          </a:p>
          <a:p>
            <a:r>
              <a:rPr lang="es-CO" sz="2800" dirty="0"/>
              <a:t>Paso 2: Convierte la parte entera </a:t>
            </a:r>
            <a:r>
              <a:rPr lang="es-CO" sz="2800" dirty="0">
                <a:sym typeface="Wingdings" panose="05000000000000000000" pitchFamily="2" charset="2"/>
              </a:rPr>
              <a:t> 5</a:t>
            </a:r>
            <a:r>
              <a:rPr lang="es-419" sz="2800" b="1" baseline="-25000" dirty="0"/>
              <a:t>10 </a:t>
            </a:r>
          </a:p>
          <a:p>
            <a:r>
              <a:rPr lang="es-419" sz="2800" dirty="0"/>
              <a:t>Paso 3: Convierte la parte flotante -&gt; 0 + 0.25 + 0.125 = 0.375</a:t>
            </a:r>
          </a:p>
          <a:p>
            <a:r>
              <a:rPr lang="es-419" sz="2800" dirty="0"/>
              <a:t>Paso 4: </a:t>
            </a:r>
            <a:r>
              <a:rPr lang="es-ES" sz="2800" dirty="0"/>
              <a:t>Combina las partes </a:t>
            </a:r>
            <a:r>
              <a:rPr lang="es-ES" sz="2800" dirty="0">
                <a:sym typeface="Wingdings" panose="05000000000000000000" pitchFamily="2" charset="2"/>
              </a:rPr>
              <a:t> </a:t>
            </a:r>
            <a:r>
              <a:rPr lang="es-ES" sz="2800" dirty="0"/>
              <a:t>5 (entera) + 0.375 (flotante) = 5.375₁₀</a:t>
            </a:r>
            <a:endParaRPr lang="es-419" sz="2800" dirty="0"/>
          </a:p>
        </p:txBody>
      </p:sp>
    </p:spTree>
    <p:extLst>
      <p:ext uri="{BB962C8B-B14F-4D97-AF65-F5344CB8AC3E}">
        <p14:creationId xmlns:p14="http://schemas.microsoft.com/office/powerpoint/2010/main" val="14963601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3CDD13-B2A3-4FFA-A1BC-418E0EF5F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Ejercicio en Clase 2ª Parte</a:t>
            </a:r>
            <a:endParaRPr lang="es-419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FFF7D3F-3020-4C5E-8D55-B1934B178870}"/>
              </a:ext>
            </a:extLst>
          </p:cNvPr>
          <p:cNvSpPr txBox="1"/>
          <p:nvPr/>
        </p:nvSpPr>
        <p:spPr>
          <a:xfrm>
            <a:off x="1585732" y="2407534"/>
            <a:ext cx="100352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🔢 5. Conversión decimal con fracción → binario Convierte el número decimal 13.625₁₀ a binario</a:t>
            </a:r>
          </a:p>
          <a:p>
            <a:endParaRPr lang="es-ES" dirty="0"/>
          </a:p>
          <a:p>
            <a:r>
              <a:rPr lang="es-ES" dirty="0"/>
              <a:t>🔢 6. Conversión binario con fracción → decimal Convierte el número binario 1101.101₂ a decimal.</a:t>
            </a:r>
            <a:endParaRPr lang="es-419" dirty="0"/>
          </a:p>
        </p:txBody>
      </p:sp>
    </p:spTree>
    <p:extLst>
      <p:ext uri="{BB962C8B-B14F-4D97-AF65-F5344CB8AC3E}">
        <p14:creationId xmlns:p14="http://schemas.microsoft.com/office/powerpoint/2010/main" val="13680479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CO" dirty="0"/>
              <a:t>Tabla ASCII </a:t>
            </a:r>
            <a:r>
              <a:rPr lang="es-CO" sz="3000" dirty="0"/>
              <a:t>(</a:t>
            </a:r>
            <a:r>
              <a:rPr lang="es-CO" sz="2800" dirty="0"/>
              <a:t>American Standard </a:t>
            </a:r>
            <a:r>
              <a:rPr lang="es-CO" sz="2800" dirty="0" err="1"/>
              <a:t>Code</a:t>
            </a:r>
            <a:r>
              <a:rPr lang="es-CO" sz="2800" dirty="0"/>
              <a:t> </a:t>
            </a:r>
            <a:r>
              <a:rPr lang="es-CO" sz="2800" dirty="0" err="1"/>
              <a:t>for</a:t>
            </a:r>
            <a:r>
              <a:rPr lang="es-CO" sz="2800" dirty="0"/>
              <a:t> </a:t>
            </a:r>
            <a:r>
              <a:rPr lang="es-CO" sz="2800" dirty="0" err="1"/>
              <a:t>Information</a:t>
            </a:r>
            <a:r>
              <a:rPr lang="es-CO" sz="2800" dirty="0"/>
              <a:t> </a:t>
            </a:r>
            <a:r>
              <a:rPr lang="es-CO" sz="2800" dirty="0" err="1"/>
              <a:t>Interchange</a:t>
            </a:r>
            <a:r>
              <a:rPr lang="es-CO" sz="3000" dirty="0"/>
              <a:t>)</a:t>
            </a:r>
          </a:p>
        </p:txBody>
      </p:sp>
      <p:sp>
        <p:nvSpPr>
          <p:cNvPr id="3" name="Rectángulo 2"/>
          <p:cNvSpPr/>
          <p:nvPr/>
        </p:nvSpPr>
        <p:spPr>
          <a:xfrm>
            <a:off x="949960" y="1655577"/>
            <a:ext cx="948639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dirty="0"/>
              <a:t>Representación numérica de los caracteres de un computador. Los 32 primeros no son imprimibles</a:t>
            </a: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928" y="2134637"/>
            <a:ext cx="6902679" cy="4510003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4594" y="2690603"/>
            <a:ext cx="5458587" cy="3000794"/>
          </a:xfrm>
          <a:prstGeom prst="rect">
            <a:avLst/>
          </a:prstGeom>
        </p:spPr>
      </p:pic>
      <p:sp>
        <p:nvSpPr>
          <p:cNvPr id="6" name="CuadroTexto 5"/>
          <p:cNvSpPr txBox="1"/>
          <p:nvPr/>
        </p:nvSpPr>
        <p:spPr>
          <a:xfrm>
            <a:off x="2816352" y="6678497"/>
            <a:ext cx="7694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dirty="0">
                <a:solidFill>
                  <a:srgbClr val="00B050"/>
                </a:solidFill>
              </a:rPr>
              <a:t>Básica</a:t>
            </a:r>
          </a:p>
        </p:txBody>
      </p:sp>
      <p:sp>
        <p:nvSpPr>
          <p:cNvPr id="7" name="CuadroTexto 6"/>
          <p:cNvSpPr txBox="1"/>
          <p:nvPr/>
        </p:nvSpPr>
        <p:spPr>
          <a:xfrm>
            <a:off x="10571808" y="6655899"/>
            <a:ext cx="1115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dirty="0">
                <a:solidFill>
                  <a:srgbClr val="00B050"/>
                </a:solidFill>
              </a:rPr>
              <a:t>Extendida</a:t>
            </a:r>
          </a:p>
        </p:txBody>
      </p:sp>
    </p:spTree>
    <p:extLst>
      <p:ext uri="{BB962C8B-B14F-4D97-AF65-F5344CB8AC3E}">
        <p14:creationId xmlns:p14="http://schemas.microsoft.com/office/powerpoint/2010/main" val="18026391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Tabla RGB </a:t>
            </a:r>
          </a:p>
        </p:txBody>
      </p:sp>
      <p:sp>
        <p:nvSpPr>
          <p:cNvPr id="3" name="CuadroTexto 2"/>
          <p:cNvSpPr txBox="1"/>
          <p:nvPr/>
        </p:nvSpPr>
        <p:spPr>
          <a:xfrm>
            <a:off x="1146047" y="1584012"/>
            <a:ext cx="10680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dirty="0"/>
              <a:t>Tiene un código de 24 bits, 3 números en base 2, para representar los colores y su intensidad en un computador</a:t>
            </a: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296" y="2208935"/>
            <a:ext cx="4976497" cy="797668"/>
          </a:xfrm>
          <a:prstGeom prst="rect">
            <a:avLst/>
          </a:prstGeom>
        </p:spPr>
      </p:pic>
      <p:sp>
        <p:nvSpPr>
          <p:cNvPr id="5" name="CuadroTexto 4"/>
          <p:cNvSpPr txBox="1"/>
          <p:nvPr/>
        </p:nvSpPr>
        <p:spPr>
          <a:xfrm>
            <a:off x="463296" y="3262195"/>
            <a:ext cx="5500224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dirty="0"/>
              <a:t>Colores posibles: 256*256*256=16.777.216</a:t>
            </a:r>
          </a:p>
          <a:p>
            <a:endParaRPr lang="es-CO" dirty="0"/>
          </a:p>
          <a:p>
            <a:r>
              <a:rPr lang="es-CO" dirty="0"/>
              <a:t>El color blanco está representado por todos los bits en 1:</a:t>
            </a:r>
          </a:p>
          <a:p>
            <a:r>
              <a:rPr lang="es-CO" dirty="0"/>
              <a:t>(255,255,255)</a:t>
            </a:r>
          </a:p>
          <a:p>
            <a:endParaRPr lang="es-CO" dirty="0"/>
          </a:p>
          <a:p>
            <a:r>
              <a:rPr lang="es-CO" dirty="0"/>
              <a:t>Para representarlo en Hexadecimal, será:</a:t>
            </a:r>
          </a:p>
          <a:p>
            <a:r>
              <a:rPr lang="es-CO" dirty="0">
                <a:solidFill>
                  <a:srgbClr val="FF0000"/>
                </a:solidFill>
              </a:rPr>
              <a:t>1111 1111</a:t>
            </a:r>
            <a:r>
              <a:rPr lang="es-CO" dirty="0"/>
              <a:t> </a:t>
            </a:r>
            <a:r>
              <a:rPr lang="es-CO" dirty="0">
                <a:solidFill>
                  <a:srgbClr val="00B050"/>
                </a:solidFill>
              </a:rPr>
              <a:t>1111 1111</a:t>
            </a:r>
            <a:r>
              <a:rPr lang="es-CO" dirty="0"/>
              <a:t> </a:t>
            </a:r>
            <a:r>
              <a:rPr lang="es-CO" dirty="0">
                <a:solidFill>
                  <a:schemeClr val="accent1">
                    <a:lumMod val="75000"/>
                  </a:schemeClr>
                </a:solidFill>
              </a:rPr>
              <a:t>1111 1111</a:t>
            </a:r>
          </a:p>
          <a:p>
            <a:r>
              <a:rPr lang="es-CO" dirty="0"/>
              <a:t>   </a:t>
            </a:r>
            <a:r>
              <a:rPr lang="es-CO" dirty="0">
                <a:solidFill>
                  <a:srgbClr val="FF0000"/>
                </a:solidFill>
              </a:rPr>
              <a:t>F</a:t>
            </a:r>
            <a:r>
              <a:rPr lang="es-CO" dirty="0"/>
              <a:t>        </a:t>
            </a:r>
            <a:r>
              <a:rPr lang="es-CO" dirty="0" err="1">
                <a:solidFill>
                  <a:srgbClr val="FF0000"/>
                </a:solidFill>
              </a:rPr>
              <a:t>F</a:t>
            </a:r>
            <a:r>
              <a:rPr lang="es-CO" dirty="0"/>
              <a:t>       </a:t>
            </a:r>
            <a:r>
              <a:rPr lang="es-CO" dirty="0" err="1">
                <a:solidFill>
                  <a:srgbClr val="00B050"/>
                </a:solidFill>
              </a:rPr>
              <a:t>F</a:t>
            </a:r>
            <a:r>
              <a:rPr lang="es-CO" dirty="0">
                <a:solidFill>
                  <a:srgbClr val="00B050"/>
                </a:solidFill>
              </a:rPr>
              <a:t> </a:t>
            </a:r>
            <a:r>
              <a:rPr lang="es-CO" dirty="0"/>
              <a:t>        </a:t>
            </a:r>
            <a:r>
              <a:rPr lang="es-CO" dirty="0" err="1">
                <a:solidFill>
                  <a:srgbClr val="00B050"/>
                </a:solidFill>
              </a:rPr>
              <a:t>F</a:t>
            </a:r>
            <a:r>
              <a:rPr lang="es-CO" dirty="0"/>
              <a:t>      </a:t>
            </a:r>
            <a:r>
              <a:rPr lang="es-CO" dirty="0" err="1">
                <a:solidFill>
                  <a:srgbClr val="0070C0"/>
                </a:solidFill>
              </a:rPr>
              <a:t>F</a:t>
            </a:r>
            <a:r>
              <a:rPr lang="es-CO" dirty="0"/>
              <a:t>       </a:t>
            </a:r>
            <a:r>
              <a:rPr lang="es-CO" dirty="0">
                <a:solidFill>
                  <a:srgbClr val="0070C0"/>
                </a:solidFill>
              </a:rPr>
              <a:t> </a:t>
            </a:r>
            <a:r>
              <a:rPr lang="es-CO" dirty="0" err="1">
                <a:solidFill>
                  <a:srgbClr val="0070C0"/>
                </a:solidFill>
              </a:rPr>
              <a:t>F</a:t>
            </a:r>
            <a:r>
              <a:rPr lang="es-CO" dirty="0">
                <a:solidFill>
                  <a:srgbClr val="0070C0"/>
                </a:solidFill>
              </a:rPr>
              <a:t> </a:t>
            </a:r>
          </a:p>
          <a:p>
            <a:r>
              <a:rPr lang="es-CO" dirty="0"/>
              <a:t>Para representarlo en decimal será:</a:t>
            </a:r>
          </a:p>
          <a:p>
            <a:r>
              <a:rPr lang="es-CO" dirty="0"/>
              <a:t>RGB = (R*65536)+(G*256)+B</a:t>
            </a:r>
          </a:p>
          <a:p>
            <a:r>
              <a:rPr lang="es-CO" dirty="0"/>
              <a:t>255*65536 + 255*256 + 255 = 16.777.215 </a:t>
            </a: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528" y="2607769"/>
            <a:ext cx="3669793" cy="3719868"/>
          </a:xfrm>
          <a:prstGeom prst="rect">
            <a:avLst/>
          </a:prstGeom>
        </p:spPr>
      </p:pic>
      <p:pic>
        <p:nvPicPr>
          <p:cNvPr id="7" name="Imagen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2843" y="2208935"/>
            <a:ext cx="2038635" cy="4801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0329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Representación de Enteros</a:t>
            </a:r>
            <a:endParaRPr lang="en-U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dirty="0"/>
              <a:t>Signo-Magnitud</a:t>
            </a:r>
          </a:p>
          <a:p>
            <a:pPr lvl="1"/>
            <a:r>
              <a:rPr lang="es-ES_tradnl" dirty="0"/>
              <a:t>La forma más sencilla es signo-magnitud:</a:t>
            </a:r>
            <a:endParaRPr lang="en-US" dirty="0"/>
          </a:p>
          <a:p>
            <a:pPr lvl="1">
              <a:buNone/>
            </a:pPr>
            <a:r>
              <a:rPr lang="es-ES_tradnl" dirty="0"/>
              <a:t>	En una palabra de n bits, los n-1 bits de la derecha representan la magnitud del entero</a:t>
            </a:r>
          </a:p>
          <a:p>
            <a:pPr lvl="1">
              <a:buNone/>
            </a:pPr>
            <a:endParaRPr lang="es-ES_tradnl" dirty="0"/>
          </a:p>
          <a:p>
            <a:pPr lvl="1"/>
            <a:r>
              <a:rPr lang="es-ES_tradnl" dirty="0"/>
              <a:t>Bit más representativo de la palabra como un bit de signo</a:t>
            </a:r>
          </a:p>
          <a:p>
            <a:pPr lvl="1" algn="ctr">
              <a:buNone/>
            </a:pPr>
            <a:r>
              <a:rPr lang="es-ES_tradnl" dirty="0"/>
              <a:t>	0 </a:t>
            </a:r>
            <a:r>
              <a:rPr lang="es-ES_tradnl" dirty="0">
                <a:solidFill>
                  <a:srgbClr val="FF0000"/>
                </a:solidFill>
              </a:rPr>
              <a:t>+</a:t>
            </a:r>
          </a:p>
          <a:p>
            <a:pPr lvl="1" algn="ctr">
              <a:buNone/>
            </a:pPr>
            <a:r>
              <a:rPr lang="es-ES_tradnl" dirty="0"/>
              <a:t>	1 </a:t>
            </a:r>
            <a:r>
              <a:rPr lang="es-ES_tradnl" dirty="0">
                <a:solidFill>
                  <a:srgbClr val="FF0000"/>
                </a:solidFill>
              </a:rPr>
              <a:t>–</a:t>
            </a:r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7902171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Representación de Enteros</a:t>
            </a:r>
            <a:endParaRPr lang="en-US" dirty="0"/>
          </a:p>
        </p:txBody>
      </p:sp>
      <p:grpSp>
        <p:nvGrpSpPr>
          <p:cNvPr id="4" name="3 Grupo"/>
          <p:cNvGrpSpPr/>
          <p:nvPr/>
        </p:nvGrpSpPr>
        <p:grpSpPr>
          <a:xfrm>
            <a:off x="6018205" y="2509828"/>
            <a:ext cx="1266742" cy="1634472"/>
            <a:chOff x="4071934" y="3476154"/>
            <a:chExt cx="1117714" cy="1442181"/>
          </a:xfrm>
        </p:grpSpPr>
        <p:pic>
          <p:nvPicPr>
            <p:cNvPr id="5" name="Picture 2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4136263" y="3774048"/>
              <a:ext cx="538163" cy="84568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6" name="5 CuadroTexto"/>
            <p:cNvSpPr txBox="1"/>
            <p:nvPr/>
          </p:nvSpPr>
          <p:spPr>
            <a:xfrm>
              <a:off x="4131968" y="4559866"/>
              <a:ext cx="551905" cy="3584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2040" dirty="0"/>
                <a:t>i = 0</a:t>
              </a:r>
              <a:endParaRPr lang="en-US" sz="2040" dirty="0"/>
            </a:p>
          </p:txBody>
        </p:sp>
        <p:sp>
          <p:nvSpPr>
            <p:cNvPr id="7" name="6 CuadroTexto"/>
            <p:cNvSpPr txBox="1"/>
            <p:nvPr/>
          </p:nvSpPr>
          <p:spPr>
            <a:xfrm>
              <a:off x="4071934" y="3476154"/>
              <a:ext cx="472698" cy="3584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2040" dirty="0"/>
                <a:t>n-2</a:t>
              </a:r>
              <a:endParaRPr lang="en-US" sz="2040" dirty="0"/>
            </a:p>
          </p:txBody>
        </p:sp>
        <p:sp>
          <p:nvSpPr>
            <p:cNvPr id="8" name="7 CuadroTexto"/>
            <p:cNvSpPr txBox="1"/>
            <p:nvPr/>
          </p:nvSpPr>
          <p:spPr>
            <a:xfrm>
              <a:off x="4636329" y="3988362"/>
              <a:ext cx="553319" cy="38930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2267" dirty="0"/>
                <a:t>2</a:t>
              </a:r>
              <a:r>
                <a:rPr lang="es-ES_tradnl" sz="2267" baseline="30000" dirty="0"/>
                <a:t>i</a:t>
              </a:r>
              <a:r>
                <a:rPr lang="es-ES_tradnl" sz="2267" dirty="0"/>
                <a:t> </a:t>
              </a:r>
              <a:r>
                <a:rPr lang="es-ES_tradnl" sz="2267" dirty="0" err="1"/>
                <a:t>a</a:t>
              </a:r>
              <a:r>
                <a:rPr lang="es-ES_tradnl" sz="2267" baseline="-25000" dirty="0" err="1"/>
                <a:t>i</a:t>
              </a:r>
              <a:endParaRPr lang="en-US" sz="2267" baseline="-25000" dirty="0"/>
            </a:p>
          </p:txBody>
        </p:sp>
      </p:grpSp>
      <p:grpSp>
        <p:nvGrpSpPr>
          <p:cNvPr id="10" name="9 Grupo"/>
          <p:cNvGrpSpPr/>
          <p:nvPr/>
        </p:nvGrpSpPr>
        <p:grpSpPr>
          <a:xfrm>
            <a:off x="5944065" y="5019683"/>
            <a:ext cx="1259920" cy="1634472"/>
            <a:chOff x="4077954" y="3476154"/>
            <a:chExt cx="1111694" cy="1442181"/>
          </a:xfrm>
        </p:grpSpPr>
        <p:pic>
          <p:nvPicPr>
            <p:cNvPr id="11" name="Picture 2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4136263" y="3774048"/>
              <a:ext cx="538163" cy="84568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12" name="11 CuadroTexto"/>
            <p:cNvSpPr txBox="1"/>
            <p:nvPr/>
          </p:nvSpPr>
          <p:spPr>
            <a:xfrm>
              <a:off x="4131968" y="4559866"/>
              <a:ext cx="551905" cy="3584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2040" dirty="0"/>
                <a:t>i = 0</a:t>
              </a:r>
              <a:endParaRPr lang="en-US" sz="2040" dirty="0"/>
            </a:p>
          </p:txBody>
        </p:sp>
        <p:sp>
          <p:nvSpPr>
            <p:cNvPr id="13" name="12 CuadroTexto"/>
            <p:cNvSpPr txBox="1"/>
            <p:nvPr/>
          </p:nvSpPr>
          <p:spPr>
            <a:xfrm>
              <a:off x="4077954" y="3476154"/>
              <a:ext cx="472698" cy="3584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2040" dirty="0"/>
                <a:t>n-2</a:t>
              </a:r>
              <a:endParaRPr lang="en-US" sz="2040" dirty="0"/>
            </a:p>
          </p:txBody>
        </p:sp>
        <p:sp>
          <p:nvSpPr>
            <p:cNvPr id="14" name="13 CuadroTexto"/>
            <p:cNvSpPr txBox="1"/>
            <p:nvPr/>
          </p:nvSpPr>
          <p:spPr>
            <a:xfrm>
              <a:off x="4636329" y="3988362"/>
              <a:ext cx="553319" cy="38930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2267" dirty="0"/>
                <a:t>2</a:t>
              </a:r>
              <a:r>
                <a:rPr lang="es-ES_tradnl" sz="2267" baseline="30000" dirty="0"/>
                <a:t>i</a:t>
              </a:r>
              <a:r>
                <a:rPr lang="es-ES_tradnl" sz="2267" dirty="0"/>
                <a:t> </a:t>
              </a:r>
              <a:r>
                <a:rPr lang="es-ES_tradnl" sz="2267" dirty="0" err="1"/>
                <a:t>a</a:t>
              </a:r>
              <a:r>
                <a:rPr lang="es-ES_tradnl" sz="2267" baseline="-25000" dirty="0" err="1"/>
                <a:t>i</a:t>
              </a:r>
              <a:endParaRPr lang="en-US" sz="2267" baseline="-25000" dirty="0"/>
            </a:p>
          </p:txBody>
        </p:sp>
      </p:grpSp>
      <p:sp>
        <p:nvSpPr>
          <p:cNvPr id="16" name="15 CuadroTexto"/>
          <p:cNvSpPr txBox="1"/>
          <p:nvPr/>
        </p:nvSpPr>
        <p:spPr>
          <a:xfrm>
            <a:off x="3994130" y="4210053"/>
            <a:ext cx="792205" cy="6504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627" dirty="0"/>
              <a:t>A =</a:t>
            </a:r>
            <a:endParaRPr lang="en-US" sz="3627" dirty="0"/>
          </a:p>
        </p:txBody>
      </p:sp>
      <p:sp>
        <p:nvSpPr>
          <p:cNvPr id="17" name="16 CuadroTexto"/>
          <p:cNvSpPr txBox="1"/>
          <p:nvPr/>
        </p:nvSpPr>
        <p:spPr>
          <a:xfrm>
            <a:off x="5613391" y="5343536"/>
            <a:ext cx="380232" cy="8597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987" dirty="0"/>
              <a:t>-</a:t>
            </a:r>
            <a:endParaRPr lang="en-US" sz="3627" dirty="0"/>
          </a:p>
        </p:txBody>
      </p:sp>
      <p:sp>
        <p:nvSpPr>
          <p:cNvPr id="18" name="17 CuadroTexto"/>
          <p:cNvSpPr txBox="1"/>
          <p:nvPr/>
        </p:nvSpPr>
        <p:spPr>
          <a:xfrm>
            <a:off x="8285172" y="3238496"/>
            <a:ext cx="1162498" cy="4062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040" dirty="0"/>
              <a:t>Si a</a:t>
            </a:r>
            <a:r>
              <a:rPr lang="es-ES_tradnl" sz="2040" baseline="-25000" dirty="0"/>
              <a:t>n-1</a:t>
            </a:r>
            <a:r>
              <a:rPr lang="es-ES_tradnl" sz="2040" dirty="0"/>
              <a:t> = 0</a:t>
            </a:r>
            <a:endParaRPr lang="en-US" sz="2040" dirty="0"/>
          </a:p>
        </p:txBody>
      </p:sp>
      <p:sp>
        <p:nvSpPr>
          <p:cNvPr id="19" name="18 CuadroTexto"/>
          <p:cNvSpPr txBox="1"/>
          <p:nvPr/>
        </p:nvSpPr>
        <p:spPr>
          <a:xfrm>
            <a:off x="8353130" y="5343536"/>
            <a:ext cx="1162498" cy="4062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040" dirty="0"/>
              <a:t>Si a</a:t>
            </a:r>
            <a:r>
              <a:rPr lang="es-ES_tradnl" sz="2040" baseline="-25000" dirty="0"/>
              <a:t>n-1</a:t>
            </a:r>
            <a:r>
              <a:rPr lang="es-ES_tradnl" sz="2040" dirty="0"/>
              <a:t> = 1</a:t>
            </a:r>
            <a:endParaRPr lang="en-US" sz="2040" dirty="0"/>
          </a:p>
        </p:txBody>
      </p:sp>
      <p:sp>
        <p:nvSpPr>
          <p:cNvPr id="20" name="19 Abrir llave"/>
          <p:cNvSpPr/>
          <p:nvPr/>
        </p:nvSpPr>
        <p:spPr>
          <a:xfrm>
            <a:off x="5046650" y="2266939"/>
            <a:ext cx="485778" cy="4533932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040"/>
          </a:p>
        </p:txBody>
      </p:sp>
      <p:sp>
        <p:nvSpPr>
          <p:cNvPr id="21" name="20 Rectángulo"/>
          <p:cNvSpPr/>
          <p:nvPr/>
        </p:nvSpPr>
        <p:spPr>
          <a:xfrm>
            <a:off x="2617758" y="1700197"/>
            <a:ext cx="3046027" cy="58060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buFont typeface="Arial" pitchFamily="34" charset="0"/>
              <a:buChar char="•"/>
            </a:pPr>
            <a:r>
              <a:rPr lang="es-ES_tradnl" sz="3173" dirty="0"/>
              <a:t> Signo-Magnitud</a:t>
            </a:r>
          </a:p>
        </p:txBody>
      </p:sp>
    </p:spTree>
    <p:extLst>
      <p:ext uri="{BB962C8B-B14F-4D97-AF65-F5344CB8AC3E}">
        <p14:creationId xmlns:p14="http://schemas.microsoft.com/office/powerpoint/2010/main" val="39567551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Representación de Enteros</a:t>
            </a:r>
            <a:endParaRPr lang="en-U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dirty="0"/>
              <a:t>Signo-Magnitud</a:t>
            </a:r>
          </a:p>
          <a:p>
            <a:pPr lvl="1"/>
            <a:r>
              <a:rPr lang="es-ES_tradnl" dirty="0"/>
              <a:t>La suma y resta deben tener en cuenta signo y magnitud para llevar a cabo la operación</a:t>
            </a:r>
          </a:p>
          <a:p>
            <a:pPr lvl="1"/>
            <a:r>
              <a:rPr lang="es-ES_tradnl" dirty="0"/>
              <a:t>Hay dos representaciones del número cero</a:t>
            </a:r>
          </a:p>
          <a:p>
            <a:pPr lvl="1"/>
            <a:r>
              <a:rPr lang="es-ES_tradnl" dirty="0"/>
              <a:t>Es raramente usada en la ALU para implementar operaciones con enteros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0625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3DC826-5CAE-411D-BDA2-5F7546B86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Ejercicio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3314649-7E6D-4424-8E46-E50F88193B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dirty="0"/>
              <a:t>Representar signo magnitud los siguientes números</a:t>
            </a:r>
          </a:p>
          <a:p>
            <a:pPr lvl="2"/>
            <a:r>
              <a:rPr lang="es-ES_tradnl" dirty="0"/>
              <a:t>+19 SM 8 bits</a:t>
            </a:r>
          </a:p>
          <a:p>
            <a:pPr lvl="2"/>
            <a:r>
              <a:rPr lang="es-ES_tradnl" dirty="0">
                <a:sym typeface="Wingdings" pitchFamily="2" charset="2"/>
              </a:rPr>
              <a:t>+19 SM 16 bits</a:t>
            </a:r>
          </a:p>
          <a:p>
            <a:pPr lvl="2"/>
            <a:r>
              <a:rPr lang="es-ES_tradnl" dirty="0">
                <a:sym typeface="Wingdings" pitchFamily="2" charset="2"/>
              </a:rPr>
              <a:t>-19 SM 8 bits</a:t>
            </a:r>
          </a:p>
          <a:p>
            <a:pPr lvl="2"/>
            <a:r>
              <a:rPr lang="es-ES_tradnl" dirty="0"/>
              <a:t>-19 SM 16 bits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5660759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Representación de Enteros</a:t>
            </a:r>
            <a:endParaRPr lang="en-U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dirty="0"/>
              <a:t>Conversión entre longitudes</a:t>
            </a:r>
          </a:p>
          <a:p>
            <a:pPr lvl="1"/>
            <a:r>
              <a:rPr lang="es-ES_tradnl" dirty="0"/>
              <a:t>Tomar un número entero de n bits en m bits, siendo m &gt; n</a:t>
            </a:r>
          </a:p>
          <a:p>
            <a:pPr lvl="1"/>
            <a:r>
              <a:rPr lang="es-ES_tradnl" dirty="0"/>
              <a:t>Si se usa signo-magnitud se resuelve fácilmente</a:t>
            </a:r>
          </a:p>
          <a:p>
            <a:pPr lvl="2"/>
            <a:r>
              <a:rPr lang="es-ES_tradnl" dirty="0"/>
              <a:t>+19 SM 8 bits </a:t>
            </a:r>
            <a:r>
              <a:rPr lang="es-ES_tradnl" dirty="0">
                <a:sym typeface="Wingdings" pitchFamily="2" charset="2"/>
              </a:rPr>
              <a:t> 00010011</a:t>
            </a:r>
          </a:p>
          <a:p>
            <a:pPr lvl="2"/>
            <a:r>
              <a:rPr lang="es-ES_tradnl" dirty="0">
                <a:sym typeface="Wingdings" pitchFamily="2" charset="2"/>
              </a:rPr>
              <a:t>+19 SM 16 bits  0000000000010011</a:t>
            </a:r>
          </a:p>
          <a:p>
            <a:pPr lvl="2"/>
            <a:r>
              <a:rPr lang="es-ES_tradnl" dirty="0">
                <a:sym typeface="Wingdings" pitchFamily="2" charset="2"/>
              </a:rPr>
              <a:t>-19 SM 8 bits  10010011</a:t>
            </a:r>
          </a:p>
          <a:p>
            <a:pPr lvl="2"/>
            <a:r>
              <a:rPr lang="es-ES_tradnl" dirty="0"/>
              <a:t>-19 SM 16 bits -&gt; </a:t>
            </a:r>
            <a:r>
              <a:rPr lang="es-ES_tradnl" dirty="0">
                <a:sym typeface="Wingdings" pitchFamily="2" charset="2"/>
              </a:rPr>
              <a:t>1000000000010011</a:t>
            </a:r>
          </a:p>
        </p:txBody>
      </p:sp>
    </p:spTree>
    <p:extLst>
      <p:ext uri="{BB962C8B-B14F-4D97-AF65-F5344CB8AC3E}">
        <p14:creationId xmlns:p14="http://schemas.microsoft.com/office/powerpoint/2010/main" val="11847455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Representación de Enteros</a:t>
            </a:r>
            <a:endParaRPr lang="en-U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dirty="0"/>
              <a:t>Complemento a dos</a:t>
            </a:r>
          </a:p>
          <a:p>
            <a:pPr lvl="1"/>
            <a:r>
              <a:rPr lang="es-ES_tradnl" dirty="0"/>
              <a:t>Bit más significativo como bit de signo</a:t>
            </a:r>
          </a:p>
          <a:p>
            <a:pPr lvl="1"/>
            <a:r>
              <a:rPr lang="es-ES_tradnl" dirty="0"/>
              <a:t>Interpretación de los bit restantes, difiere de signo-magnitud</a:t>
            </a:r>
          </a:p>
          <a:p>
            <a:pPr lvl="1"/>
            <a:r>
              <a:rPr lang="es-ES_tradnl" dirty="0"/>
              <a:t>Forma de representación de los positivos:</a:t>
            </a:r>
          </a:p>
          <a:p>
            <a:pPr lvl="1"/>
            <a:endParaRPr lang="en-US" dirty="0"/>
          </a:p>
        </p:txBody>
      </p:sp>
      <p:grpSp>
        <p:nvGrpSpPr>
          <p:cNvPr id="4" name="3 Grupo"/>
          <p:cNvGrpSpPr/>
          <p:nvPr/>
        </p:nvGrpSpPr>
        <p:grpSpPr>
          <a:xfrm>
            <a:off x="4965686" y="5019683"/>
            <a:ext cx="1266742" cy="1634472"/>
            <a:chOff x="4071934" y="3476154"/>
            <a:chExt cx="1117714" cy="1442181"/>
          </a:xfrm>
        </p:grpSpPr>
        <p:pic>
          <p:nvPicPr>
            <p:cNvPr id="5" name="Picture 2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4136263" y="3774048"/>
              <a:ext cx="538163" cy="84568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6" name="5 CuadroTexto"/>
            <p:cNvSpPr txBox="1"/>
            <p:nvPr/>
          </p:nvSpPr>
          <p:spPr>
            <a:xfrm>
              <a:off x="4131968" y="4559866"/>
              <a:ext cx="551905" cy="3584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2040" dirty="0"/>
                <a:t>i = 0</a:t>
              </a:r>
              <a:endParaRPr lang="en-US" sz="2040" dirty="0"/>
            </a:p>
          </p:txBody>
        </p:sp>
        <p:sp>
          <p:nvSpPr>
            <p:cNvPr id="7" name="6 CuadroTexto"/>
            <p:cNvSpPr txBox="1"/>
            <p:nvPr/>
          </p:nvSpPr>
          <p:spPr>
            <a:xfrm>
              <a:off x="4071934" y="3476154"/>
              <a:ext cx="472698" cy="3584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2040" dirty="0"/>
                <a:t>n-2</a:t>
              </a:r>
              <a:endParaRPr lang="en-US" sz="2040" dirty="0"/>
            </a:p>
          </p:txBody>
        </p:sp>
        <p:sp>
          <p:nvSpPr>
            <p:cNvPr id="8" name="7 CuadroTexto"/>
            <p:cNvSpPr txBox="1"/>
            <p:nvPr/>
          </p:nvSpPr>
          <p:spPr>
            <a:xfrm>
              <a:off x="4636329" y="3988362"/>
              <a:ext cx="553319" cy="38930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2267" dirty="0"/>
                <a:t>2</a:t>
              </a:r>
              <a:r>
                <a:rPr lang="es-ES_tradnl" sz="2267" baseline="30000" dirty="0"/>
                <a:t>i</a:t>
              </a:r>
              <a:r>
                <a:rPr lang="es-ES_tradnl" sz="2267" dirty="0"/>
                <a:t> </a:t>
              </a:r>
              <a:r>
                <a:rPr lang="es-ES_tradnl" sz="2267" dirty="0" err="1"/>
                <a:t>a</a:t>
              </a:r>
              <a:r>
                <a:rPr lang="es-ES_tradnl" sz="2267" baseline="-25000" dirty="0" err="1"/>
                <a:t>i</a:t>
              </a:r>
              <a:endParaRPr lang="en-US" sz="2267" baseline="-25000" dirty="0"/>
            </a:p>
          </p:txBody>
        </p:sp>
      </p:grpSp>
      <p:sp>
        <p:nvSpPr>
          <p:cNvPr id="9" name="8 CuadroTexto"/>
          <p:cNvSpPr txBox="1"/>
          <p:nvPr/>
        </p:nvSpPr>
        <p:spPr>
          <a:xfrm>
            <a:off x="6746874" y="5667388"/>
            <a:ext cx="1162498" cy="4062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040" dirty="0"/>
              <a:t>Si a</a:t>
            </a:r>
            <a:r>
              <a:rPr lang="es-ES_tradnl" sz="2040" baseline="-25000" dirty="0"/>
              <a:t>n-1</a:t>
            </a:r>
            <a:r>
              <a:rPr lang="es-ES_tradnl" sz="2040" dirty="0"/>
              <a:t> = 0</a:t>
            </a:r>
            <a:endParaRPr lang="en-US" sz="2040" dirty="0"/>
          </a:p>
        </p:txBody>
      </p:sp>
      <p:sp>
        <p:nvSpPr>
          <p:cNvPr id="10" name="9 CuadroTexto"/>
          <p:cNvSpPr txBox="1"/>
          <p:nvPr/>
        </p:nvSpPr>
        <p:spPr>
          <a:xfrm>
            <a:off x="3913167" y="5505462"/>
            <a:ext cx="792205" cy="6504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627" dirty="0"/>
              <a:t>A =</a:t>
            </a:r>
            <a:endParaRPr lang="en-US" sz="3627" dirty="0"/>
          </a:p>
        </p:txBody>
      </p:sp>
      <p:sp>
        <p:nvSpPr>
          <p:cNvPr id="11" name="10 CuadroTexto"/>
          <p:cNvSpPr txBox="1"/>
          <p:nvPr/>
        </p:nvSpPr>
        <p:spPr>
          <a:xfrm>
            <a:off x="8181403" y="5667388"/>
            <a:ext cx="3342292" cy="406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040" dirty="0"/>
              <a:t>Para A &gt;= 0</a:t>
            </a:r>
            <a:endParaRPr lang="en-US" sz="2040" dirty="0"/>
          </a:p>
        </p:txBody>
      </p:sp>
    </p:spTree>
    <p:extLst>
      <p:ext uri="{BB962C8B-B14F-4D97-AF65-F5344CB8AC3E}">
        <p14:creationId xmlns:p14="http://schemas.microsoft.com/office/powerpoint/2010/main" val="8935628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Representación de Enteros</a:t>
            </a:r>
            <a:endParaRPr lang="en-U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2245360" y="1813561"/>
            <a:ext cx="9326880" cy="4177680"/>
          </a:xfrm>
        </p:spPr>
        <p:txBody>
          <a:bodyPr>
            <a:normAutofit/>
          </a:bodyPr>
          <a:lstStyle/>
          <a:p>
            <a:r>
              <a:rPr lang="es-ES_tradnl" dirty="0"/>
              <a:t>Complemento a dos</a:t>
            </a:r>
          </a:p>
          <a:p>
            <a:pPr lvl="1"/>
            <a:r>
              <a:rPr lang="es-ES_tradnl" dirty="0"/>
              <a:t>La forma de representar negativos:</a:t>
            </a:r>
            <a:endParaRPr lang="en-US" dirty="0"/>
          </a:p>
          <a:p>
            <a:pPr lvl="2">
              <a:buNone/>
            </a:pPr>
            <a:r>
              <a:rPr lang="es-ES_tradnl" dirty="0"/>
              <a:t>	A (A &lt; 0)</a:t>
            </a:r>
          </a:p>
          <a:p>
            <a:pPr lvl="2">
              <a:buNone/>
            </a:pPr>
            <a:r>
              <a:rPr lang="es-ES_tradnl" dirty="0"/>
              <a:t>	El bit a</a:t>
            </a:r>
            <a:r>
              <a:rPr lang="es-ES_tradnl" baseline="-25000" dirty="0"/>
              <a:t>n-1</a:t>
            </a:r>
            <a:r>
              <a:rPr lang="es-ES_tradnl" dirty="0"/>
              <a:t> = 1</a:t>
            </a:r>
          </a:p>
          <a:p>
            <a:pPr lvl="2">
              <a:buNone/>
            </a:pPr>
            <a:r>
              <a:rPr lang="es-ES_tradnl" dirty="0"/>
              <a:t>	Los n-1 bit restantes pueden tomar cualquiera de las 2</a:t>
            </a:r>
            <a:r>
              <a:rPr lang="es-ES_tradnl" baseline="30000" dirty="0"/>
              <a:t>n-1</a:t>
            </a:r>
            <a:r>
              <a:rPr lang="es-ES_tradnl" dirty="0"/>
              <a:t> combinaciones</a:t>
            </a:r>
          </a:p>
          <a:p>
            <a:pPr lvl="2">
              <a:buNone/>
            </a:pPr>
            <a:r>
              <a:rPr lang="es-ES_tradnl" dirty="0"/>
              <a:t>	El rango: desde -1 hasta -2</a:t>
            </a:r>
            <a:r>
              <a:rPr lang="es-ES_tradnl" baseline="30000" dirty="0"/>
              <a:t>n-1</a:t>
            </a:r>
          </a:p>
          <a:p>
            <a:pPr lvl="1">
              <a:buNone/>
            </a:pPr>
            <a:endParaRPr lang="es-ES_tradnl" baseline="30000" dirty="0"/>
          </a:p>
          <a:p>
            <a:pPr lvl="1"/>
            <a:r>
              <a:rPr lang="es-ES_tradnl" dirty="0"/>
              <a:t>La forma general del complemento a dos es:</a:t>
            </a:r>
          </a:p>
          <a:p>
            <a:pPr lvl="1">
              <a:buNone/>
            </a:pPr>
            <a:endParaRPr lang="en-US" dirty="0"/>
          </a:p>
          <a:p>
            <a:pPr lvl="1">
              <a:buNone/>
            </a:pPr>
            <a:endParaRPr lang="es-ES_tradnl" dirty="0"/>
          </a:p>
        </p:txBody>
      </p:sp>
      <p:grpSp>
        <p:nvGrpSpPr>
          <p:cNvPr id="4" name="3 Grupo"/>
          <p:cNvGrpSpPr/>
          <p:nvPr/>
        </p:nvGrpSpPr>
        <p:grpSpPr>
          <a:xfrm>
            <a:off x="7313615" y="5558903"/>
            <a:ext cx="1266742" cy="1634472"/>
            <a:chOff x="4071934" y="3476154"/>
            <a:chExt cx="1117714" cy="1442181"/>
          </a:xfrm>
        </p:grpSpPr>
        <p:pic>
          <p:nvPicPr>
            <p:cNvPr id="5" name="Picture 2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4136263" y="3774048"/>
              <a:ext cx="538163" cy="84568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6" name="5 CuadroTexto"/>
            <p:cNvSpPr txBox="1"/>
            <p:nvPr/>
          </p:nvSpPr>
          <p:spPr>
            <a:xfrm>
              <a:off x="4131968" y="4559866"/>
              <a:ext cx="551905" cy="3584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2040" dirty="0"/>
                <a:t>i = 0</a:t>
              </a:r>
              <a:endParaRPr lang="en-US" sz="2040" dirty="0"/>
            </a:p>
          </p:txBody>
        </p:sp>
        <p:sp>
          <p:nvSpPr>
            <p:cNvPr id="7" name="6 CuadroTexto"/>
            <p:cNvSpPr txBox="1"/>
            <p:nvPr/>
          </p:nvSpPr>
          <p:spPr>
            <a:xfrm>
              <a:off x="4071934" y="3476154"/>
              <a:ext cx="472698" cy="3584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2040" dirty="0"/>
                <a:t>n-2</a:t>
              </a:r>
              <a:endParaRPr lang="en-US" sz="2040" dirty="0"/>
            </a:p>
          </p:txBody>
        </p:sp>
        <p:sp>
          <p:nvSpPr>
            <p:cNvPr id="8" name="7 CuadroTexto"/>
            <p:cNvSpPr txBox="1"/>
            <p:nvPr/>
          </p:nvSpPr>
          <p:spPr>
            <a:xfrm>
              <a:off x="4636329" y="3988362"/>
              <a:ext cx="553319" cy="38930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2267" dirty="0"/>
                <a:t>2</a:t>
              </a:r>
              <a:r>
                <a:rPr lang="es-ES_tradnl" sz="2267" baseline="30000" dirty="0"/>
                <a:t>i</a:t>
              </a:r>
              <a:r>
                <a:rPr lang="es-ES_tradnl" sz="2267" dirty="0"/>
                <a:t> </a:t>
              </a:r>
              <a:r>
                <a:rPr lang="es-ES_tradnl" sz="2267" dirty="0" err="1"/>
                <a:t>a</a:t>
              </a:r>
              <a:r>
                <a:rPr lang="es-ES_tradnl" sz="2267" baseline="-25000" dirty="0" err="1"/>
                <a:t>i</a:t>
              </a:r>
              <a:endParaRPr lang="en-US" sz="2267" baseline="-25000" dirty="0"/>
            </a:p>
          </p:txBody>
        </p:sp>
      </p:grpSp>
      <p:sp>
        <p:nvSpPr>
          <p:cNvPr id="9" name="8 CuadroTexto"/>
          <p:cNvSpPr txBox="1"/>
          <p:nvPr/>
        </p:nvSpPr>
        <p:spPr>
          <a:xfrm>
            <a:off x="4791467" y="6044682"/>
            <a:ext cx="792205" cy="6504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627" dirty="0"/>
              <a:t>A =</a:t>
            </a:r>
            <a:endParaRPr lang="en-US" sz="3627" dirty="0"/>
          </a:p>
        </p:txBody>
      </p:sp>
      <p:sp>
        <p:nvSpPr>
          <p:cNvPr id="10" name="9 Rectángulo"/>
          <p:cNvSpPr/>
          <p:nvPr/>
        </p:nvSpPr>
        <p:spPr>
          <a:xfrm>
            <a:off x="5682060" y="6153167"/>
            <a:ext cx="1612942" cy="510909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es-ES_tradnl" sz="2040" dirty="0"/>
              <a:t>-</a:t>
            </a:r>
            <a:r>
              <a:rPr lang="es-ES_tradnl" sz="2720" dirty="0"/>
              <a:t>2</a:t>
            </a:r>
            <a:r>
              <a:rPr lang="es-ES_tradnl" sz="2720" baseline="30000" dirty="0"/>
              <a:t>n-1 </a:t>
            </a:r>
            <a:r>
              <a:rPr lang="es-ES_tradnl" sz="2720" dirty="0"/>
              <a:t>a</a:t>
            </a:r>
            <a:r>
              <a:rPr lang="es-ES_tradnl" sz="2720" baseline="-25000" dirty="0"/>
              <a:t>n-1</a:t>
            </a:r>
            <a:r>
              <a:rPr lang="es-ES_tradnl" sz="2720" dirty="0"/>
              <a:t> + </a:t>
            </a:r>
            <a:endParaRPr lang="en-US" sz="2720" dirty="0"/>
          </a:p>
        </p:txBody>
      </p:sp>
    </p:spTree>
    <p:extLst>
      <p:ext uri="{BB962C8B-B14F-4D97-AF65-F5344CB8AC3E}">
        <p14:creationId xmlns:p14="http://schemas.microsoft.com/office/powerpoint/2010/main" val="34141897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Representación de Enteros</a:t>
            </a:r>
            <a:endParaRPr lang="en-U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2245360" y="1813561"/>
            <a:ext cx="9326880" cy="3449012"/>
          </a:xfrm>
        </p:spPr>
        <p:txBody>
          <a:bodyPr/>
          <a:lstStyle/>
          <a:p>
            <a:r>
              <a:rPr lang="es-ES_tradnl" dirty="0"/>
              <a:t>Complemento a dos</a:t>
            </a:r>
          </a:p>
          <a:p>
            <a:pPr lvl="1"/>
            <a:r>
              <a:rPr lang="es-ES_tradnl" dirty="0"/>
              <a:t>Caja de valores para representar complemento a dos</a:t>
            </a:r>
          </a:p>
          <a:p>
            <a:pPr lvl="1"/>
            <a:r>
              <a:rPr lang="es-ES_tradnl" dirty="0"/>
              <a:t>El valor más a la derecha equivale a 2</a:t>
            </a:r>
            <a:r>
              <a:rPr lang="es-ES_tradnl" baseline="30000" dirty="0"/>
              <a:t>0</a:t>
            </a:r>
            <a:r>
              <a:rPr lang="es-ES_tradnl" dirty="0"/>
              <a:t>= 1</a:t>
            </a:r>
          </a:p>
          <a:p>
            <a:pPr lvl="1"/>
            <a:r>
              <a:rPr lang="es-ES_tradnl" dirty="0"/>
              <a:t>El valor más a la izquierda representa el valor que se va a restar. (el número negativo)</a:t>
            </a:r>
            <a:endParaRPr lang="en-US" dirty="0"/>
          </a:p>
        </p:txBody>
      </p:sp>
      <p:graphicFrame>
        <p:nvGraphicFramePr>
          <p:cNvPr id="4" name="3 Tabla"/>
          <p:cNvGraphicFramePr>
            <a:graphicFrameLocks noGrp="1"/>
          </p:cNvGraphicFramePr>
          <p:nvPr/>
        </p:nvGraphicFramePr>
        <p:xfrm>
          <a:off x="3091449" y="4483489"/>
          <a:ext cx="6908800" cy="12643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08330">
                <a:tc>
                  <a:txBody>
                    <a:bodyPr/>
                    <a:lstStyle/>
                    <a:p>
                      <a:pPr algn="ctr"/>
                      <a:r>
                        <a:rPr lang="es-ES_tradnl" sz="2300" dirty="0"/>
                        <a:t> - 128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2300" dirty="0"/>
                        <a:t>64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2300" dirty="0"/>
                        <a:t>32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2300" dirty="0"/>
                        <a:t>16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2300" dirty="0"/>
                        <a:t>8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2300" dirty="0"/>
                        <a:t>4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2300" dirty="0"/>
                        <a:t>2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5981">
                <a:tc>
                  <a:txBody>
                    <a:bodyPr/>
                    <a:lstStyle/>
                    <a:p>
                      <a:endParaRPr lang="en-US" sz="230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endParaRPr lang="en-US" sz="230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endParaRPr lang="en-US" sz="230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endParaRPr lang="en-US" sz="230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endParaRPr lang="en-US" sz="2300" dirty="0"/>
                    </a:p>
                  </a:txBody>
                  <a:tcPr marL="103632" marR="103632" marT="51816" marB="51816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" name="4 Flecha abajo"/>
          <p:cNvSpPr/>
          <p:nvPr/>
        </p:nvSpPr>
        <p:spPr>
          <a:xfrm>
            <a:off x="3442241" y="5374083"/>
            <a:ext cx="242889" cy="48577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40"/>
          </a:p>
        </p:txBody>
      </p:sp>
      <p:sp>
        <p:nvSpPr>
          <p:cNvPr id="6" name="5 CuadroTexto"/>
          <p:cNvSpPr txBox="1"/>
          <p:nvPr/>
        </p:nvSpPr>
        <p:spPr>
          <a:xfrm>
            <a:off x="3314390" y="5859862"/>
            <a:ext cx="2056973" cy="7201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040" dirty="0"/>
              <a:t>0 +, no se resta</a:t>
            </a:r>
          </a:p>
          <a:p>
            <a:r>
              <a:rPr lang="es-ES_tradnl" sz="2040" dirty="0"/>
              <a:t>1 - , se restan 128</a:t>
            </a:r>
            <a:endParaRPr lang="en-US" sz="2040" dirty="0"/>
          </a:p>
        </p:txBody>
      </p:sp>
      <p:sp>
        <p:nvSpPr>
          <p:cNvPr id="7" name="6 Abrir llave"/>
          <p:cNvSpPr/>
          <p:nvPr/>
        </p:nvSpPr>
        <p:spPr>
          <a:xfrm rot="16200000">
            <a:off x="6802208" y="2661820"/>
            <a:ext cx="404814" cy="5829341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040"/>
          </a:p>
        </p:txBody>
      </p:sp>
      <p:sp>
        <p:nvSpPr>
          <p:cNvPr id="8" name="7 CuadroTexto"/>
          <p:cNvSpPr txBox="1"/>
          <p:nvPr/>
        </p:nvSpPr>
        <p:spPr>
          <a:xfrm>
            <a:off x="6437874" y="5859862"/>
            <a:ext cx="3076597" cy="406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040" dirty="0"/>
              <a:t>Siempre son positivos</a:t>
            </a:r>
            <a:endParaRPr lang="en-US" sz="2040" dirty="0"/>
          </a:p>
        </p:txBody>
      </p:sp>
    </p:spTree>
    <p:extLst>
      <p:ext uri="{BB962C8B-B14F-4D97-AF65-F5344CB8AC3E}">
        <p14:creationId xmlns:p14="http://schemas.microsoft.com/office/powerpoint/2010/main" val="185450943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Representación de Enteros</a:t>
            </a:r>
            <a:endParaRPr lang="en-U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2245360" y="1813561"/>
            <a:ext cx="9326880" cy="1748788"/>
          </a:xfrm>
        </p:spPr>
        <p:txBody>
          <a:bodyPr/>
          <a:lstStyle/>
          <a:p>
            <a:r>
              <a:rPr lang="es-ES_tradnl" dirty="0"/>
              <a:t>Complemento a dos</a:t>
            </a:r>
          </a:p>
          <a:p>
            <a:pPr lvl="1"/>
            <a:r>
              <a:rPr lang="es-ES_tradnl" dirty="0"/>
              <a:t>Representar 125 y -125 usando complemento a dos</a:t>
            </a:r>
            <a:endParaRPr lang="en-US" dirty="0"/>
          </a:p>
        </p:txBody>
      </p:sp>
      <p:graphicFrame>
        <p:nvGraphicFramePr>
          <p:cNvPr id="4" name="3 Tabla"/>
          <p:cNvGraphicFramePr>
            <a:graphicFrameLocks noGrp="1"/>
          </p:cNvGraphicFramePr>
          <p:nvPr/>
        </p:nvGraphicFramePr>
        <p:xfrm>
          <a:off x="3508351" y="3724274"/>
          <a:ext cx="6908800" cy="12643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08330">
                <a:tc>
                  <a:txBody>
                    <a:bodyPr/>
                    <a:lstStyle/>
                    <a:p>
                      <a:pPr algn="ctr"/>
                      <a:r>
                        <a:rPr lang="es-ES_tradnl" sz="2300" dirty="0"/>
                        <a:t> - 128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2300" dirty="0"/>
                        <a:t>64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2300" dirty="0"/>
                        <a:t>32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2300" dirty="0"/>
                        <a:t>16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2300" dirty="0"/>
                        <a:t>8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2300" dirty="0"/>
                        <a:t>4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2300" dirty="0"/>
                        <a:t>2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5981">
                <a:tc>
                  <a:txBody>
                    <a:bodyPr/>
                    <a:lstStyle/>
                    <a:p>
                      <a:r>
                        <a:rPr lang="es-ES_tradnl" sz="2300" dirty="0"/>
                        <a:t>0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r>
                        <a:rPr lang="es-ES_tradnl" sz="2300" dirty="0"/>
                        <a:t>0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5" name="4 Tabla"/>
          <p:cNvGraphicFramePr>
            <a:graphicFrameLocks noGrp="1"/>
          </p:cNvGraphicFramePr>
          <p:nvPr/>
        </p:nvGraphicFramePr>
        <p:xfrm>
          <a:off x="3562375" y="5312595"/>
          <a:ext cx="6908800" cy="12643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08330">
                <a:tc>
                  <a:txBody>
                    <a:bodyPr/>
                    <a:lstStyle/>
                    <a:p>
                      <a:pPr algn="ctr"/>
                      <a:r>
                        <a:rPr lang="es-ES_tradnl" sz="2300" dirty="0"/>
                        <a:t> - 128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2300" dirty="0"/>
                        <a:t>64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2300" dirty="0"/>
                        <a:t>32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2300" dirty="0"/>
                        <a:t>16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2300" dirty="0"/>
                        <a:t>8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2300" dirty="0"/>
                        <a:t>4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2300" dirty="0"/>
                        <a:t>2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5981">
                <a:tc>
                  <a:txBody>
                    <a:bodyPr/>
                    <a:lstStyle/>
                    <a:p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r>
                        <a:rPr lang="es-ES_tradnl" sz="2300" dirty="0"/>
                        <a:t>0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r>
                        <a:rPr lang="es-ES_tradnl" sz="2300" dirty="0"/>
                        <a:t>0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r>
                        <a:rPr lang="es-ES_tradnl" sz="2300" dirty="0"/>
                        <a:t>0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r>
                        <a:rPr lang="es-ES_tradnl" sz="2300" dirty="0"/>
                        <a:t>0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r>
                        <a:rPr lang="es-ES_tradnl" sz="2300" dirty="0"/>
                        <a:t>0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tc>
                  <a:txBody>
                    <a:bodyPr/>
                    <a:lstStyle/>
                    <a:p>
                      <a:r>
                        <a:rPr lang="es-ES_tradnl" sz="2300" dirty="0"/>
                        <a:t>1</a:t>
                      </a:r>
                      <a:endParaRPr lang="en-US" sz="2300" dirty="0"/>
                    </a:p>
                  </a:txBody>
                  <a:tcPr marL="103632" marR="103632" marT="51816" marB="51816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1358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Representación de Enteros</a:t>
            </a:r>
            <a:endParaRPr lang="en-U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dirty="0"/>
              <a:t>Tarea e investigación</a:t>
            </a:r>
          </a:p>
          <a:p>
            <a:pPr lvl="1"/>
            <a:r>
              <a:rPr lang="es-ES_tradnl" dirty="0"/>
              <a:t>Representar en complemento a dos con n=8:</a:t>
            </a:r>
          </a:p>
          <a:p>
            <a:pPr lvl="2"/>
            <a:r>
              <a:rPr lang="es-ES_tradnl" dirty="0"/>
              <a:t>1 y -1</a:t>
            </a:r>
          </a:p>
          <a:p>
            <a:pPr lvl="2"/>
            <a:r>
              <a:rPr lang="es-ES_tradnl" dirty="0"/>
              <a:t>128 y -128</a:t>
            </a:r>
          </a:p>
          <a:p>
            <a:pPr lvl="2"/>
            <a:r>
              <a:rPr lang="es-ES_tradnl" dirty="0"/>
              <a:t>78 y -78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301485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Representación de Enteros</a:t>
            </a:r>
            <a:endParaRPr lang="en-U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dirty="0"/>
              <a:t>Conversión entre longitudes</a:t>
            </a:r>
          </a:p>
          <a:p>
            <a:pPr lvl="1"/>
            <a:r>
              <a:rPr lang="es-ES_tradnl" dirty="0"/>
              <a:t>Si se usa complemento a dos, no funciona el desplazamiento de la misma manera para los negativos. </a:t>
            </a:r>
          </a:p>
          <a:p>
            <a:pPr lvl="2"/>
            <a:r>
              <a:rPr lang="es-ES_tradnl" dirty="0"/>
              <a:t>-18 </a:t>
            </a:r>
            <a:r>
              <a:rPr lang="es-ES_tradnl" dirty="0" err="1"/>
              <a:t>CaD</a:t>
            </a:r>
            <a:r>
              <a:rPr lang="es-ES_tradnl" dirty="0"/>
              <a:t> 8 Bits </a:t>
            </a:r>
            <a:r>
              <a:rPr lang="es-ES_tradnl" dirty="0">
                <a:sym typeface="Wingdings" pitchFamily="2" charset="2"/>
              </a:rPr>
              <a:t> 11101110</a:t>
            </a:r>
          </a:p>
          <a:p>
            <a:pPr lvl="2"/>
            <a:r>
              <a:rPr lang="es-ES_tradnl" dirty="0">
                <a:sym typeface="Wingdings" pitchFamily="2" charset="2"/>
              </a:rPr>
              <a:t>-18 </a:t>
            </a:r>
            <a:r>
              <a:rPr lang="es-ES_tradnl" dirty="0" err="1">
                <a:sym typeface="Wingdings" pitchFamily="2" charset="2"/>
              </a:rPr>
              <a:t>CaD</a:t>
            </a:r>
            <a:r>
              <a:rPr lang="es-ES_tradnl" dirty="0">
                <a:sym typeface="Wingdings" pitchFamily="2" charset="2"/>
              </a:rPr>
              <a:t> 16 bits  1000000001101110 = </a:t>
            </a:r>
            <a:r>
              <a:rPr lang="es-ES_tradnl" dirty="0">
                <a:solidFill>
                  <a:srgbClr val="FF0000"/>
                </a:solidFill>
                <a:sym typeface="Wingdings" pitchFamily="2" charset="2"/>
              </a:rPr>
              <a:t>-32658</a:t>
            </a:r>
          </a:p>
          <a:p>
            <a:pPr lvl="1"/>
            <a:r>
              <a:rPr lang="es-ES_tradnl" dirty="0">
                <a:solidFill>
                  <a:srgbClr val="FF0000"/>
                </a:solidFill>
                <a:sym typeface="Wingdings" pitchFamily="2" charset="2"/>
              </a:rPr>
              <a:t>La regla es mover el bit de signo más a la izquierda y los bit añadidos son copias del bit de signo</a:t>
            </a:r>
            <a:endParaRPr lang="es-ES_tradnl" dirty="0">
              <a:sym typeface="Wingdings" pitchFamily="2" charset="2"/>
            </a:endParaRPr>
          </a:p>
          <a:p>
            <a:pPr lvl="2"/>
            <a:r>
              <a:rPr lang="es-ES_tradnl" dirty="0">
                <a:sym typeface="Wingdings" pitchFamily="2" charset="2"/>
              </a:rPr>
              <a:t>-18 </a:t>
            </a:r>
            <a:r>
              <a:rPr lang="es-ES_tradnl" dirty="0" err="1">
                <a:sym typeface="Wingdings" pitchFamily="2" charset="2"/>
              </a:rPr>
              <a:t>CaD</a:t>
            </a:r>
            <a:r>
              <a:rPr lang="es-ES_tradnl" dirty="0">
                <a:sym typeface="Wingdings" pitchFamily="2" charset="2"/>
              </a:rPr>
              <a:t> 16 bits  1</a:t>
            </a:r>
            <a:r>
              <a:rPr lang="es-ES_tradnl" dirty="0">
                <a:solidFill>
                  <a:srgbClr val="FF0000"/>
                </a:solidFill>
                <a:sym typeface="Wingdings" pitchFamily="2" charset="2"/>
              </a:rPr>
              <a:t>11111111</a:t>
            </a:r>
            <a:r>
              <a:rPr lang="es-ES_tradnl" dirty="0">
                <a:sym typeface="Wingdings" pitchFamily="2" charset="2"/>
              </a:rPr>
              <a:t>1101110 = -18</a:t>
            </a:r>
          </a:p>
        </p:txBody>
      </p:sp>
      <p:sp>
        <p:nvSpPr>
          <p:cNvPr id="4" name="3 Llamada rectangular"/>
          <p:cNvSpPr/>
          <p:nvPr/>
        </p:nvSpPr>
        <p:spPr>
          <a:xfrm>
            <a:off x="8123246" y="3643311"/>
            <a:ext cx="1052520" cy="323852"/>
          </a:xfrm>
          <a:prstGeom prst="wedgeRectCallout">
            <a:avLst>
              <a:gd name="adj1" fmla="val -385981"/>
              <a:gd name="adj2" fmla="val 3932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_tradnl" sz="2040" dirty="0"/>
              <a:t>-32768</a:t>
            </a:r>
            <a:endParaRPr lang="en-US" sz="2040" dirty="0"/>
          </a:p>
        </p:txBody>
      </p:sp>
      <p:sp>
        <p:nvSpPr>
          <p:cNvPr id="5" name="4 Cerrar llave"/>
          <p:cNvSpPr/>
          <p:nvPr/>
        </p:nvSpPr>
        <p:spPr>
          <a:xfrm rot="5400000">
            <a:off x="5534942" y="4451918"/>
            <a:ext cx="404815" cy="2059112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040"/>
          </a:p>
        </p:txBody>
      </p:sp>
      <p:sp>
        <p:nvSpPr>
          <p:cNvPr id="6" name="5 Rectángulo"/>
          <p:cNvSpPr/>
          <p:nvPr/>
        </p:nvSpPr>
        <p:spPr>
          <a:xfrm>
            <a:off x="5214667" y="5823409"/>
            <a:ext cx="849913" cy="4062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40" dirty="0"/>
              <a:t>32750</a:t>
            </a:r>
          </a:p>
        </p:txBody>
      </p:sp>
    </p:spTree>
    <p:extLst>
      <p:ext uri="{BB962C8B-B14F-4D97-AF65-F5344CB8AC3E}">
        <p14:creationId xmlns:p14="http://schemas.microsoft.com/office/powerpoint/2010/main" val="42201329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949960" y="413809"/>
            <a:ext cx="10498829" cy="1502305"/>
          </a:xfrm>
        </p:spPr>
        <p:txBody>
          <a:bodyPr/>
          <a:lstStyle/>
          <a:p>
            <a:r>
              <a:rPr lang="es-CO" dirty="0"/>
              <a:t>Bibliografía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err="1"/>
              <a:t>Stallings</a:t>
            </a:r>
            <a:r>
              <a:rPr lang="es-ES" dirty="0"/>
              <a:t>, William. Organización y Arquitectura de Computadores. Pearson, Madrid, España. 2006</a:t>
            </a:r>
          </a:p>
          <a:p>
            <a:r>
              <a:rPr lang="es-ES" dirty="0" err="1"/>
              <a:t>Tanenbamum</a:t>
            </a:r>
            <a:r>
              <a:rPr lang="es-ES" dirty="0"/>
              <a:t>, Andrew S. Organización de Computadores. Un enfoque estructurado. Pearson </a:t>
            </a:r>
            <a:r>
              <a:rPr lang="es-ES" dirty="0" err="1"/>
              <a:t>Education</a:t>
            </a:r>
            <a:r>
              <a:rPr lang="es-ES" dirty="0"/>
              <a:t>, </a:t>
            </a:r>
            <a:r>
              <a:rPr lang="es-ES" dirty="0" err="1"/>
              <a:t>Upper</a:t>
            </a:r>
            <a:r>
              <a:rPr lang="es-ES" dirty="0"/>
              <a:t> </a:t>
            </a:r>
            <a:r>
              <a:rPr lang="es-ES" dirty="0" err="1"/>
              <a:t>Saddle</a:t>
            </a:r>
            <a:r>
              <a:rPr lang="es-ES" dirty="0"/>
              <a:t> </a:t>
            </a:r>
            <a:r>
              <a:rPr lang="es-ES" dirty="0" err="1"/>
              <a:t>River</a:t>
            </a:r>
            <a:r>
              <a:rPr lang="es-ES" dirty="0"/>
              <a:t>, NJ. 2000</a:t>
            </a:r>
          </a:p>
          <a:p>
            <a:r>
              <a:rPr lang="es-ES" dirty="0"/>
              <a:t>Introducción a la computación. Peter Norton 2006.</a:t>
            </a:r>
          </a:p>
          <a:p>
            <a:r>
              <a:rPr lang="es-ES_tradnl" dirty="0"/>
              <a:t>Curso de Arquitectura de Computadores, Profesor Paco </a:t>
            </a:r>
            <a:r>
              <a:rPr lang="es-ES_tradnl" dirty="0" err="1"/>
              <a:t>Aylagas</a:t>
            </a:r>
            <a:r>
              <a:rPr lang="es-ES_tradnl" dirty="0"/>
              <a:t>.</a:t>
            </a:r>
          </a:p>
          <a:p>
            <a:r>
              <a:rPr lang="es-ES_tradnl" dirty="0"/>
              <a:t>Organización y arquitectura de computadores. William </a:t>
            </a:r>
            <a:r>
              <a:rPr lang="es-ES_tradnl" dirty="0" err="1"/>
              <a:t>Stallings</a:t>
            </a:r>
            <a:r>
              <a:rPr lang="es-ES_tradnl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93815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1F3EA7-6335-4EC6-B98B-F46C788AA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2534" y="820737"/>
            <a:ext cx="5181600" cy="2125663"/>
          </a:xfrm>
        </p:spPr>
        <p:txBody>
          <a:bodyPr>
            <a:normAutofit/>
          </a:bodyPr>
          <a:lstStyle/>
          <a:p>
            <a:pPr algn="ctr"/>
            <a:r>
              <a:rPr lang="es-CO" sz="6600" dirty="0"/>
              <a:t>Preguntas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839DD33-E13C-4B9C-919E-71DF8A4D72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4935" y="2946400"/>
            <a:ext cx="2896797" cy="2579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24105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2998</TotalTime>
  <Words>1713</Words>
  <Application>Microsoft Office PowerPoint</Application>
  <PresentationFormat>Personalizado</PresentationFormat>
  <Paragraphs>358</Paragraphs>
  <Slides>35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35</vt:i4>
      </vt:variant>
    </vt:vector>
  </HeadingPairs>
  <TitlesOfParts>
    <vt:vector size="39" baseType="lpstr">
      <vt:lpstr>Arial</vt:lpstr>
      <vt:lpstr>Calibri</vt:lpstr>
      <vt:lpstr>Calibri Light</vt:lpstr>
      <vt:lpstr>Tema de Office</vt:lpstr>
      <vt:lpstr>Presentación de PowerPoint</vt:lpstr>
      <vt:lpstr>Presentación de PowerPoint</vt:lpstr>
      <vt:lpstr>Aspectos fundamentales</vt:lpstr>
      <vt:lpstr>Entradas y salidas a la ALU</vt:lpstr>
      <vt:lpstr>Sistemas de numeración</vt:lpstr>
      <vt:lpstr>Sistema Binario</vt:lpstr>
      <vt:lpstr>Unidades Computacionales</vt:lpstr>
      <vt:lpstr>Representación de Enteros</vt:lpstr>
      <vt:lpstr>Representación de Enteros</vt:lpstr>
      <vt:lpstr>Conversiones Binario – Entero</vt:lpstr>
      <vt:lpstr>Ejercicio</vt:lpstr>
      <vt:lpstr>Conversiones Binario – Entero</vt:lpstr>
      <vt:lpstr>Ejercicios</vt:lpstr>
      <vt:lpstr>Representación Hexadecimal</vt:lpstr>
      <vt:lpstr>Ejercicio</vt:lpstr>
      <vt:lpstr>Tarea</vt:lpstr>
      <vt:lpstr>Ejercicio en Clase 1ª Parte</vt:lpstr>
      <vt:lpstr>Conversión de flotantes  Binario-Decimal</vt:lpstr>
      <vt:lpstr>Conversión de flotantes  Binario-Decimal</vt:lpstr>
      <vt:lpstr>Ejercicio en Clase 2ª Parte</vt:lpstr>
      <vt:lpstr>Tabla ASCII (American Standard Code for Information Interchange)</vt:lpstr>
      <vt:lpstr>Tabla RGB </vt:lpstr>
      <vt:lpstr>Representación de Enteros</vt:lpstr>
      <vt:lpstr>Representación de Enteros</vt:lpstr>
      <vt:lpstr>Representación de Enteros</vt:lpstr>
      <vt:lpstr>Ejercicio</vt:lpstr>
      <vt:lpstr>Representación de Enteros</vt:lpstr>
      <vt:lpstr>Representación de Enteros</vt:lpstr>
      <vt:lpstr>Representación de Enteros</vt:lpstr>
      <vt:lpstr>Representación de Enteros</vt:lpstr>
      <vt:lpstr>Representación de Enteros</vt:lpstr>
      <vt:lpstr>Representación de Enteros</vt:lpstr>
      <vt:lpstr>Representación de Enteros</vt:lpstr>
      <vt:lpstr>Bibliografía</vt:lpstr>
      <vt:lpstr>Preguntas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Natalia Arango Hincapie</dc:creator>
  <cp:lastModifiedBy>Cesar Augusto Lopez Gallego</cp:lastModifiedBy>
  <cp:revision>283</cp:revision>
  <dcterms:created xsi:type="dcterms:W3CDTF">2017-09-01T21:22:22Z</dcterms:created>
  <dcterms:modified xsi:type="dcterms:W3CDTF">2026-01-16T14:14:10Z</dcterms:modified>
</cp:coreProperties>
</file>